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59" r:id="rId4"/>
    <p:sldId id="263" r:id="rId5"/>
    <p:sldId id="260" r:id="rId6"/>
    <p:sldId id="275" r:id="rId7"/>
    <p:sldId id="261" r:id="rId8"/>
    <p:sldId id="264" r:id="rId9"/>
    <p:sldId id="265" r:id="rId10"/>
    <p:sldId id="277" r:id="rId11"/>
    <p:sldId id="276" r:id="rId12"/>
    <p:sldId id="268" r:id="rId13"/>
    <p:sldId id="269" r:id="rId14"/>
    <p:sldId id="278" r:id="rId15"/>
    <p:sldId id="279" r:id="rId16"/>
    <p:sldId id="280" r:id="rId17"/>
    <p:sldId id="281" r:id="rId18"/>
    <p:sldId id="274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DC2E5"/>
    <a:srgbClr val="0096FF"/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655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68" y="3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F54CC8-9120-D14A-9EA9-377F94575632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89C95-E424-4A42-AC94-93097F51DB9C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692937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1BE699-8709-0943-817C-2614DB7A72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1EBDF93-7A39-484D-93AE-5AF332C69E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A5C30F-A46B-B84A-B085-79E6B6EDC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B7E9B-6309-F84B-A914-311DE2A86A26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C4DA5E-B9CF-F345-A65A-98BF35D31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145BEA-B684-D246-B3D5-3851B0EAC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9313F-1411-664F-BA30-2565811AB88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31614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8D2028-0AA1-8D42-A030-87C87926F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2036E4-F75F-4C4A-90EF-EDF09286E2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0C9B3B-CA5E-3B4C-85DF-9D2781DBD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B7E9B-6309-F84B-A914-311DE2A86A26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9851F8-3430-344A-8F90-612D10DDE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6AC059-34E3-144B-8694-090599874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9313F-1411-664F-BA30-2565811AB88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4352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C7C23B-7DAC-5E42-89C4-5779B765E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0C11CF-4F64-1641-AEA1-5D3ADE4EF3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C97E7E-B0D6-DF4C-8862-5D61A9A95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B7E9B-6309-F84B-A914-311DE2A86A26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F9310F-E40C-A24B-AF03-DB4BE4275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E770A0-CC5A-C44A-B4D0-D973E0E3B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9313F-1411-664F-BA30-2565811AB88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952397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9DDBAA-42BA-3D41-B478-9F90671FF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5F3654-1B40-6740-B5F8-DF4B815966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450F3B6-CD3B-A543-9515-D426C6F99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8173915-4FB6-D94A-B48C-305634BCA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B7E9B-6309-F84B-A914-311DE2A86A26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0144CF-9E5B-B14F-BD6D-29CBD321A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0380A18-8FC8-FD47-9B67-26D5C3AC9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9313F-1411-664F-BA30-2565811AB88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053043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A3B052-2EE2-5B4C-9C5E-B16D369C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08AE81-078B-C647-8EBD-3560CEA9B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1A5F56A-A973-5740-B0B2-023ED93E0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6DBE553-C731-7F48-9064-15425F3B8B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B9A5EAE-7DF8-844E-82C3-FAF955F8BF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DBBCDA0-43E3-294C-98B5-C6B6FEA83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B7E9B-6309-F84B-A914-311DE2A86A26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58AE441-6356-3A43-B348-83B0A341A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785101D-B903-0046-89F0-F2BCFEF6A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9313F-1411-664F-BA30-2565811AB88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29881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87A8E4-44F5-3548-9FFE-0235CB1B0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FDB5F48-DD0B-D340-B738-D9EEA1A72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B7E9B-6309-F84B-A914-311DE2A86A26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943705-ED7E-3A40-9D38-91089051A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61F0B2-9143-0344-B89D-CF272C8A6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9313F-1411-664F-BA30-2565811AB88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139065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93F10E3-6DA1-8040-BAA1-2A4A24E50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B7E9B-6309-F84B-A914-311DE2A86A26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12A67C8-77FD-6646-9E33-B021614ED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C4240-8066-B74D-90BC-5FD6218F9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9313F-1411-664F-BA30-2565811AB88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3437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45D1CF-0A20-594C-807E-80434A7F6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ED2006-411C-7344-9F9D-A503A7342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E21E58-C9AA-794C-ABED-0C40B7C2F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692680-87C3-F848-B8FF-1385DF2A8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B7E9B-6309-F84B-A914-311DE2A86A26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D2A757-518B-DC43-9538-503AEFD39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7C0F28-9286-D547-B349-6EC2EF955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9313F-1411-664F-BA30-2565811AB88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6533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6FD283-9B75-9F4D-BC20-35CACCA82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100F260-42DB-BF4D-9B45-A068D7A5BE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4CB071D-922F-034F-89AB-886313D637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4781B89-20BA-8449-AF3C-912ACD936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B7E9B-6309-F84B-A914-311DE2A86A26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477A6-467D-4A4A-A80E-222368441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00078E4-12F4-324D-B97C-7CE08A063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9313F-1411-664F-BA30-2565811AB88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55737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8CAC1C-A5B6-BF42-8936-FE65A5C71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74D280-29F8-B548-A7D2-450EBE2D6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958E3E-08EB-B840-B5B0-54BB34F35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B7E9B-6309-F84B-A914-311DE2A86A26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6AF392-CB42-7646-BFCD-9048EEFA7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089722-511F-694E-959B-158D81D18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9313F-1411-664F-BA30-2565811AB88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25909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FEACA66-DD47-704D-9ABE-B4F4A1142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6455E95-2E68-7D44-978F-B376263A87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D4B090-6279-AC44-AFA2-8FD38526C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B7E9B-6309-F84B-A914-311DE2A86A26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873BF3-C21E-854F-A8CB-052A21063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662422-C9E0-1B47-B0E0-E25CF7DA7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79313F-1411-664F-BA30-2565811AB88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419980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F41020B-60D2-3444-BF84-296E55AB6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2A25B5E-2D83-4E4B-B330-C499A19C85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FAC2CA-5DBD-2842-ACF6-36DEB67C31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3B7E9B-6309-F84B-A914-311DE2A86A26}" type="datetimeFigureOut">
              <a:rPr kumimoji="1" lang="ko-KR" altLang="en-US" smtClean="0"/>
              <a:t>2020. 3. 26.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66D0FA-531D-4749-9741-60F67703EE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A5E467-0672-4540-9373-1E93842B84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79313F-1411-664F-BA30-2565811AB88A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11605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bitbucket.org/Guyclops/handamclient/src/master/src/configs/config.js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pps.apple.com/kr/app/%ED%95%9C%EB%8B%B4/id1437741744" TargetMode="External"/><Relationship Id="rId2" Type="http://schemas.openxmlformats.org/officeDocument/2006/relationships/hyperlink" Target="https://play.google.com/store/apps/details?id=com.handamproject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uyclops/kidsfactory-shop-admin" TargetMode="Externa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411480" y="289560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C3E3DE-816F-B844-B58D-5F2D4F3FCEC4}"/>
              </a:ext>
            </a:extLst>
          </p:cNvPr>
          <p:cNvSpPr txBox="1"/>
          <p:nvPr/>
        </p:nvSpPr>
        <p:spPr>
          <a:xfrm>
            <a:off x="1225296" y="1202525"/>
            <a:ext cx="9528048" cy="51111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3600" b="1" spc="300" dirty="0"/>
              <a:t>SHIN JUNTAE</a:t>
            </a:r>
          </a:p>
          <a:p>
            <a:r>
              <a:rPr kumimoji="1" lang="en-US" altLang="ko-KR" sz="3600" b="1" spc="300" dirty="0"/>
              <a:t>PORTPOLIO</a:t>
            </a:r>
          </a:p>
          <a:p>
            <a:endParaRPr kumimoji="1" lang="en-US" altLang="ko-KR" sz="3600" b="1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endParaRPr kumimoji="1" lang="en-US" altLang="ko-KR" sz="3600" b="1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endParaRPr kumimoji="1" lang="en-US" altLang="ko-KR" sz="3600" b="1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>
              <a:lnSpc>
                <a:spcPct val="150000"/>
              </a:lnSpc>
            </a:pPr>
            <a:r>
              <a:rPr lang="en-US" altLang="ko-KR" sz="2000" b="0" cap="none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Address : </a:t>
            </a:r>
            <a:r>
              <a:rPr lang="en-US" altLang="ko-KR" sz="2000" b="0" cap="none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서울시</a:t>
            </a:r>
            <a:r>
              <a:rPr lang="en-US" altLang="ko-KR" sz="2000" b="0" cap="none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ko-KR" sz="2000" b="0" cap="none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관악구</a:t>
            </a:r>
            <a:r>
              <a:rPr lang="en-US" altLang="ko-KR" sz="2000" b="0" cap="none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봉천로23바길 12, 201호</a:t>
            </a:r>
            <a:endParaRPr lang="ko-KR" altLang="en-US" sz="2000" b="0" cap="none" dirty="0">
              <a:solidFill>
                <a:schemeClr val="tx1">
                  <a:lumMod val="50000"/>
                  <a:lumOff val="50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>
              <a:lnSpc>
                <a:spcPct val="150000"/>
              </a:lnSpc>
            </a:pPr>
            <a:r>
              <a:rPr lang="en-US" altLang="ko-KR" sz="2000" b="0" cap="none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Email : wnsxo0816@gmail.com</a:t>
            </a:r>
            <a:endParaRPr lang="ko-KR" altLang="en-US" sz="2000" b="0" cap="none" dirty="0">
              <a:solidFill>
                <a:schemeClr val="tx1">
                  <a:lumMod val="50000"/>
                  <a:lumOff val="50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>
              <a:lnSpc>
                <a:spcPct val="150000"/>
              </a:lnSpc>
            </a:pPr>
            <a:r>
              <a:rPr lang="en-US" altLang="ko-KR" sz="2000" b="0" cap="none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Phone : 010-3950-3332</a:t>
            </a:r>
          </a:p>
          <a:p>
            <a:pPr eaLnBrk="0">
              <a:lnSpc>
                <a:spcPct val="150000"/>
              </a:lnSpc>
            </a:pPr>
            <a:r>
              <a:rPr lang="en-US" altLang="ko-KR" sz="20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Github</a:t>
            </a: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: https://</a:t>
            </a:r>
            <a:r>
              <a:rPr lang="en-US" altLang="ko-KR" sz="20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github.com</a:t>
            </a: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/</a:t>
            </a:r>
            <a:r>
              <a:rPr lang="en-US" altLang="ko-KR" sz="20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Guyclops</a:t>
            </a:r>
            <a:endParaRPr lang="en-US" altLang="ko-KR" sz="2000" dirty="0">
              <a:solidFill>
                <a:schemeClr val="tx1">
                  <a:lumMod val="50000"/>
                  <a:lumOff val="50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>
              <a:lnSpc>
                <a:spcPct val="150000"/>
              </a:lnSpc>
            </a:pP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Bitbucket: https://</a:t>
            </a:r>
            <a:r>
              <a:rPr lang="en-US" altLang="ko-KR" sz="20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bitbucket.org</a:t>
            </a: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/</a:t>
            </a:r>
            <a:r>
              <a:rPr lang="en-US" altLang="ko-KR" sz="20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Guyclops</a:t>
            </a:r>
            <a:endParaRPr lang="ko-KR" altLang="en-US" sz="2000" b="0" cap="none" dirty="0">
              <a:solidFill>
                <a:schemeClr val="tx1">
                  <a:lumMod val="50000"/>
                  <a:lumOff val="50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43259C-3635-5546-B8C1-CD3D2B6BF815}"/>
              </a:ext>
            </a:extLst>
          </p:cNvPr>
          <p:cNvSpPr/>
          <p:nvPr/>
        </p:nvSpPr>
        <p:spPr>
          <a:xfrm>
            <a:off x="10991088" y="289560"/>
            <a:ext cx="789432" cy="6294120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56000"/>
                  <a:lumMod val="79000"/>
                </a:schemeClr>
              </a:gs>
              <a:gs pos="100000">
                <a:srgbClr val="0096FF">
                  <a:alpha val="34118"/>
                </a:srgb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1" name="직선 연결선[R] 10">
            <a:extLst>
              <a:ext uri="{FF2B5EF4-FFF2-40B4-BE49-F238E27FC236}">
                <a16:creationId xmlns:a16="http://schemas.microsoft.com/office/drawing/2014/main" id="{E4EC04B1-6350-7943-9EAC-630AAFA52EE8}"/>
              </a:ext>
            </a:extLst>
          </p:cNvPr>
          <p:cNvCxnSpPr>
            <a:cxnSpLocks/>
          </p:cNvCxnSpPr>
          <p:nvPr/>
        </p:nvCxnSpPr>
        <p:spPr>
          <a:xfrm>
            <a:off x="1371600" y="2596896"/>
            <a:ext cx="0" cy="1243584"/>
          </a:xfrm>
          <a:prstGeom prst="line">
            <a:avLst/>
          </a:prstGeom>
          <a:ln w="25400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188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48766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1225296" y="1005840"/>
            <a:ext cx="9765792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[R] 5">
            <a:extLst>
              <a:ext uri="{FF2B5EF4-FFF2-40B4-BE49-F238E27FC236}">
                <a16:creationId xmlns:a16="http://schemas.microsoft.com/office/drawing/2014/main" id="{0D46100D-83BB-0441-96DC-1E7C8A5BE374}"/>
              </a:ext>
            </a:extLst>
          </p:cNvPr>
          <p:cNvCxnSpPr>
            <a:cxnSpLocks/>
          </p:cNvCxnSpPr>
          <p:nvPr/>
        </p:nvCxnSpPr>
        <p:spPr>
          <a:xfrm>
            <a:off x="3841018" y="2205904"/>
            <a:ext cx="0" cy="3416323"/>
          </a:xfrm>
          <a:prstGeom prst="line">
            <a:avLst/>
          </a:prstGeom>
          <a:ln w="25400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B7F3DC2A-2548-7A43-8F6E-379E9BF3E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788" y="2205904"/>
            <a:ext cx="1335023" cy="15873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1204064" y="1746873"/>
            <a:ext cx="1755647" cy="374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dirty="0"/>
              <a:t>PROFILE</a:t>
            </a:r>
            <a:endParaRPr kumimoji="1"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027429-78CF-304E-8ED4-E472BE05216D}"/>
              </a:ext>
            </a:extLst>
          </p:cNvPr>
          <p:cNvSpPr txBox="1"/>
          <p:nvPr/>
        </p:nvSpPr>
        <p:spPr>
          <a:xfrm>
            <a:off x="1204064" y="3877425"/>
            <a:ext cx="19538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600" spc="-1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SHIN JUNTAE / </a:t>
            </a:r>
            <a:r>
              <a:rPr kumimoji="1" lang="ko-KR" altLang="en-US" sz="1600" spc="-15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신준태</a:t>
            </a:r>
            <a:endParaRPr kumimoji="1" lang="ko-KR" altLang="en-US" sz="1600" spc="-15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6F9396-C2DE-1F44-AB6E-9CDD36408684}"/>
              </a:ext>
            </a:extLst>
          </p:cNvPr>
          <p:cNvSpPr txBox="1"/>
          <p:nvPr/>
        </p:nvSpPr>
        <p:spPr>
          <a:xfrm>
            <a:off x="1603249" y="4759565"/>
            <a:ext cx="1356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600" spc="-15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010-3950-3332</a:t>
            </a:r>
            <a:endParaRPr kumimoji="1" lang="ko-KR" altLang="en-US" sz="1600" spc="-1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1DA7F4C-70F2-3845-877B-80EF93433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449" y="5622227"/>
            <a:ext cx="304800" cy="3048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89C4654-C991-4447-A233-0AC64866A9A0}"/>
              </a:ext>
            </a:extLst>
          </p:cNvPr>
          <p:cNvSpPr txBox="1"/>
          <p:nvPr/>
        </p:nvSpPr>
        <p:spPr>
          <a:xfrm>
            <a:off x="1603249" y="5602744"/>
            <a:ext cx="8776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600" spc="-15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Guyclops</a:t>
            </a:r>
            <a:endParaRPr kumimoji="1" lang="ko-KR" altLang="en-US" sz="1600" spc="-1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9F5FA93-E094-BD40-97DA-42305A68C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449" y="4776442"/>
            <a:ext cx="304800" cy="3048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9ADB3BDA-060E-F445-8175-332930CA42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249" y="5207173"/>
            <a:ext cx="306000" cy="3060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E8DC5C3-BD79-1E4B-B575-7FB87D6E6085}"/>
              </a:ext>
            </a:extLst>
          </p:cNvPr>
          <p:cNvSpPr txBox="1"/>
          <p:nvPr/>
        </p:nvSpPr>
        <p:spPr>
          <a:xfrm>
            <a:off x="1603249" y="5187690"/>
            <a:ext cx="20119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600" spc="-15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wnsxo0816@gmail.com</a:t>
            </a:r>
            <a:endParaRPr kumimoji="1" lang="ko-KR" altLang="en-US" sz="1600" spc="-1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543E7198-A28D-4D41-86B0-48C31EC4CA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7249" y="4358787"/>
            <a:ext cx="306000" cy="306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E6A1376-6D42-EF49-8C43-F43C9237F3E2}"/>
              </a:ext>
            </a:extLst>
          </p:cNvPr>
          <p:cNvSpPr txBox="1"/>
          <p:nvPr/>
        </p:nvSpPr>
        <p:spPr>
          <a:xfrm>
            <a:off x="1627351" y="4344511"/>
            <a:ext cx="99257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600" spc="-15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1992.08.16</a:t>
            </a:r>
            <a:endParaRPr kumimoji="1" lang="ko-KR" altLang="en-US" sz="1600" spc="-15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8FC71B-3473-0340-A49E-80A68AF8457B}"/>
              </a:ext>
            </a:extLst>
          </p:cNvPr>
          <p:cNvSpPr txBox="1"/>
          <p:nvPr/>
        </p:nvSpPr>
        <p:spPr>
          <a:xfrm>
            <a:off x="4431895" y="2121777"/>
            <a:ext cx="2838651" cy="139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1400" dirty="0"/>
              <a:t>•</a:t>
            </a:r>
            <a:r>
              <a:rPr kumimoji="1" lang="ko-KR" altLang="en-US" sz="1400" dirty="0"/>
              <a:t> 학력</a:t>
            </a:r>
            <a:endParaRPr kumimoji="1" lang="en-US" altLang="ko-KR" sz="1400" dirty="0"/>
          </a:p>
          <a:p>
            <a:pPr>
              <a:lnSpc>
                <a:spcPct val="150000"/>
              </a:lnSpc>
            </a:pP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•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2008.03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당곡고등학교 입학</a:t>
            </a:r>
            <a:endParaRPr kumimoji="1" lang="en-US" altLang="ko-KR" sz="1100" dirty="0">
              <a:solidFill>
                <a:schemeClr val="tx1">
                  <a:lumMod val="50000"/>
                  <a:lumOff val="50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•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2011.02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당곡고등학교 졸업</a:t>
            </a:r>
            <a:endParaRPr kumimoji="1" lang="en-US" altLang="ko-KR" sz="1100" dirty="0">
              <a:solidFill>
                <a:schemeClr val="tx1">
                  <a:lumMod val="50000"/>
                  <a:lumOff val="50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•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2011.03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숭실대학교 컴퓨터 학부 입학</a:t>
            </a:r>
            <a:endParaRPr kumimoji="1" lang="en-US" altLang="ko-KR" sz="1100" dirty="0">
              <a:solidFill>
                <a:schemeClr val="tx1">
                  <a:lumMod val="50000"/>
                  <a:lumOff val="50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•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2017.02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숭실대학교 졸업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23D14-C552-264E-B74C-8C634CEAD27F}"/>
              </a:ext>
            </a:extLst>
          </p:cNvPr>
          <p:cNvSpPr txBox="1"/>
          <p:nvPr/>
        </p:nvSpPr>
        <p:spPr>
          <a:xfrm>
            <a:off x="4431895" y="3789294"/>
            <a:ext cx="3501868" cy="139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1400" dirty="0"/>
              <a:t>•</a:t>
            </a:r>
            <a:r>
              <a:rPr kumimoji="1" lang="ko-KR" altLang="en-US" sz="1400" dirty="0"/>
              <a:t> 경력사항</a:t>
            </a:r>
            <a:endParaRPr kumimoji="1" lang="en-US" altLang="ko-KR" sz="1400" dirty="0"/>
          </a:p>
          <a:p>
            <a:pPr>
              <a:lnSpc>
                <a:spcPct val="150000"/>
              </a:lnSpc>
            </a:pP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•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2017.01~2017.04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 </a:t>
            </a:r>
            <a:r>
              <a:rPr kumimoji="1" lang="ko-KR" alt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화인스택</a:t>
            </a:r>
            <a:endParaRPr kumimoji="1" lang="en-US" altLang="ko-KR" sz="1100" dirty="0">
              <a:solidFill>
                <a:schemeClr val="tx1">
                  <a:lumMod val="50000"/>
                  <a:lumOff val="50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	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       기술지원 엔지니어</a:t>
            </a:r>
            <a:endParaRPr kumimoji="1" lang="en-US" altLang="ko-KR" sz="1100" dirty="0">
              <a:solidFill>
                <a:schemeClr val="tx1">
                  <a:lumMod val="50000"/>
                  <a:lumOff val="50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•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2018.02~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현재       </a:t>
            </a:r>
            <a:r>
              <a:rPr kumimoji="1" lang="ko-KR" alt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키즈팩토리</a:t>
            </a:r>
            <a:endParaRPr kumimoji="1" lang="en-US" altLang="ko-KR" sz="1100" dirty="0">
              <a:solidFill>
                <a:schemeClr val="tx1">
                  <a:lumMod val="50000"/>
                  <a:lumOff val="50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	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       </a:t>
            </a:r>
            <a:r>
              <a:rPr kumimoji="1" lang="ko-KR" alt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풀스택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개발자</a:t>
            </a:r>
            <a:endParaRPr kumimoji="1" lang="en-US" altLang="ko-KR" sz="1100" dirty="0">
              <a:solidFill>
                <a:schemeClr val="tx1">
                  <a:lumMod val="50000"/>
                  <a:lumOff val="50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8FC71B-3473-0340-A49E-80A68AF8457B}"/>
              </a:ext>
            </a:extLst>
          </p:cNvPr>
          <p:cNvSpPr txBox="1"/>
          <p:nvPr/>
        </p:nvSpPr>
        <p:spPr>
          <a:xfrm>
            <a:off x="7270546" y="2115349"/>
            <a:ext cx="3720542" cy="19062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1400" dirty="0"/>
              <a:t>•</a:t>
            </a:r>
            <a:r>
              <a:rPr kumimoji="1" lang="ko-KR" altLang="en-US" sz="1400" dirty="0"/>
              <a:t> 기술 </a:t>
            </a:r>
            <a:r>
              <a:rPr kumimoji="1" lang="ko-KR" altLang="en-US" sz="1400" dirty="0" err="1"/>
              <a:t>스택</a:t>
            </a:r>
            <a:endParaRPr kumimoji="1" lang="en-US" altLang="ko-KR" sz="1400" dirty="0"/>
          </a:p>
          <a:p>
            <a:pPr>
              <a:lnSpc>
                <a:spcPct val="150000"/>
              </a:lnSpc>
            </a:pP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•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협업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: Slack, </a:t>
            </a:r>
            <a:r>
              <a:rPr kumimoji="1"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Zeplin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, Trello</a:t>
            </a:r>
          </a:p>
          <a:p>
            <a:pPr>
              <a:lnSpc>
                <a:spcPct val="150000"/>
              </a:lnSpc>
            </a:pP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• 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버전 관리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: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git(</a:t>
            </a:r>
            <a:r>
              <a:rPr kumimoji="1"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Github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, Bitbucket, AWS </a:t>
            </a:r>
            <a:r>
              <a:rPr kumimoji="1"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CodeCommit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• 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개발도구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: Visual Studio Code, Atom, </a:t>
            </a:r>
            <a:r>
              <a:rPr kumimoji="1"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Webstorm</a:t>
            </a:r>
            <a:endParaRPr kumimoji="1" lang="en-US" altLang="ko-KR" sz="1100" dirty="0">
              <a:solidFill>
                <a:schemeClr val="tx1">
                  <a:lumMod val="50000"/>
                  <a:lumOff val="50000"/>
                </a:schemeClr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•</a:t>
            </a:r>
            <a:r>
              <a:rPr kumimoji="1" lang="ko-KR" alt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Skills: </a:t>
            </a:r>
            <a:r>
              <a:rPr kumimoji="1"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Javascript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, React, React Native, Node.js, </a:t>
            </a:r>
            <a:r>
              <a:rPr kumimoji="1"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Express.js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, MySQL, AWS(EC2, Beanstalk, </a:t>
            </a:r>
            <a:r>
              <a:rPr kumimoji="1" lang="en-US" altLang="ko-KR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CodeStar</a:t>
            </a:r>
            <a:r>
              <a:rPr kumimoji="1" lang="en-US" altLang="ko-KR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, RDS, S3, Lambda)</a:t>
            </a:r>
          </a:p>
        </p:txBody>
      </p:sp>
    </p:spTree>
    <p:extLst>
      <p:ext uri="{BB962C8B-B14F-4D97-AF65-F5344CB8AC3E}">
        <p14:creationId xmlns:p14="http://schemas.microsoft.com/office/powerpoint/2010/main" val="19196921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2221426" y="613745"/>
            <a:ext cx="1755647" cy="374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dirty="0"/>
              <a:t>Project</a:t>
            </a:r>
            <a:endParaRPr kumimoji="1"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8FC71B-3473-0340-A49E-80A68AF8457B}"/>
              </a:ext>
            </a:extLst>
          </p:cNvPr>
          <p:cNvSpPr txBox="1"/>
          <p:nvPr/>
        </p:nvSpPr>
        <p:spPr>
          <a:xfrm>
            <a:off x="2221426" y="2129869"/>
            <a:ext cx="529607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dirty="0"/>
              <a:t>•</a:t>
            </a:r>
            <a:r>
              <a:rPr kumimoji="1" lang="ko-KR" altLang="en-US" dirty="0"/>
              <a:t> 한담 </a:t>
            </a:r>
            <a:r>
              <a:rPr kumimoji="1" lang="en-US" altLang="ko-KR" dirty="0"/>
              <a:t>– </a:t>
            </a:r>
            <a:r>
              <a:rPr kumimoji="1" lang="ko-KR" altLang="en-US" dirty="0"/>
              <a:t>한성대 강의평가 서비스</a:t>
            </a:r>
            <a:endParaRPr kumimoji="1" lang="en-US" altLang="ko-K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78FC71B-3473-0340-A49E-80A68AF8457B}"/>
              </a:ext>
            </a:extLst>
          </p:cNvPr>
          <p:cNvSpPr txBox="1"/>
          <p:nvPr/>
        </p:nvSpPr>
        <p:spPr>
          <a:xfrm>
            <a:off x="2221426" y="3382040"/>
            <a:ext cx="529607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dirty="0"/>
              <a:t>•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데이터랩</a:t>
            </a:r>
            <a:r>
              <a:rPr kumimoji="1" lang="ko-KR" altLang="en-US" dirty="0"/>
              <a:t> </a:t>
            </a:r>
            <a:r>
              <a:rPr kumimoji="1" lang="en-US" altLang="ko-KR" dirty="0"/>
              <a:t>–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키즈팩토리</a:t>
            </a:r>
            <a:r>
              <a:rPr kumimoji="1" lang="ko-KR" altLang="en-US" dirty="0"/>
              <a:t> </a:t>
            </a:r>
            <a:r>
              <a:rPr kumimoji="1" lang="ko-KR" altLang="en-US" dirty="0" err="1"/>
              <a:t>데이터랩</a:t>
            </a:r>
            <a:r>
              <a:rPr kumimoji="1" lang="ko-KR" altLang="en-US" dirty="0"/>
              <a:t> </a:t>
            </a:r>
            <a:endParaRPr kumimoji="1" lang="en-US" altLang="ko-KR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8FC71B-3473-0340-A49E-80A68AF8457B}"/>
              </a:ext>
            </a:extLst>
          </p:cNvPr>
          <p:cNvSpPr txBox="1"/>
          <p:nvPr/>
        </p:nvSpPr>
        <p:spPr>
          <a:xfrm>
            <a:off x="2221426" y="4745898"/>
            <a:ext cx="529607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dirty="0"/>
              <a:t>• </a:t>
            </a:r>
            <a:r>
              <a:rPr kumimoji="1" lang="ko-KR" altLang="en-US" dirty="0" err="1"/>
              <a:t>키즈</a:t>
            </a:r>
            <a:r>
              <a:rPr kumimoji="1" lang="ko-KR" altLang="en-US" dirty="0"/>
              <a:t> 카페 </a:t>
            </a:r>
            <a:r>
              <a:rPr kumimoji="1" lang="ko-KR" altLang="en-US" dirty="0" err="1"/>
              <a:t>점주용</a:t>
            </a:r>
            <a:r>
              <a:rPr kumimoji="1" lang="ko-KR" altLang="en-US" dirty="0"/>
              <a:t> 웹 서비스</a:t>
            </a:r>
            <a:endParaRPr kumimoji="1"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13140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2221426" y="613745"/>
            <a:ext cx="1755647" cy="374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dirty="0"/>
              <a:t>Project</a:t>
            </a:r>
            <a:endParaRPr kumimoji="1"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8FC71B-3473-0340-A49E-80A68AF8457B}"/>
              </a:ext>
            </a:extLst>
          </p:cNvPr>
          <p:cNvSpPr txBox="1"/>
          <p:nvPr/>
        </p:nvSpPr>
        <p:spPr>
          <a:xfrm>
            <a:off x="3816447" y="3074743"/>
            <a:ext cx="4429633" cy="9680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ko-KR" altLang="en-US" sz="2400" b="1" dirty="0"/>
              <a:t>한담 </a:t>
            </a:r>
            <a:r>
              <a:rPr kumimoji="1" lang="en-US" altLang="ko-KR" sz="2400" b="1" dirty="0"/>
              <a:t>– </a:t>
            </a:r>
            <a:r>
              <a:rPr kumimoji="1" lang="ko-KR" altLang="en-US" sz="2400" b="1" dirty="0"/>
              <a:t>한성대 강의평가 서비스</a:t>
            </a:r>
            <a:endParaRPr kumimoji="1" lang="en-US" altLang="ko-KR" sz="2400" b="1" dirty="0"/>
          </a:p>
          <a:p>
            <a:pPr algn="ctr">
              <a:lnSpc>
                <a:spcPct val="150000"/>
              </a:lnSpc>
            </a:pPr>
            <a:r>
              <a:rPr kumimoji="1" lang="en-US" altLang="ko-KR" sz="1600" b="1" dirty="0"/>
              <a:t>2018.10</a:t>
            </a:r>
            <a:r>
              <a:rPr kumimoji="1" lang="ko-KR" altLang="en-US" sz="1600" b="1" dirty="0"/>
              <a:t>월 </a:t>
            </a:r>
            <a:r>
              <a:rPr kumimoji="1" lang="en-US" altLang="ko-KR" sz="1600" b="1" dirty="0"/>
              <a:t>~</a:t>
            </a:r>
            <a:r>
              <a:rPr kumimoji="1" lang="ko-KR" altLang="en-US" sz="1600" b="1" dirty="0"/>
              <a:t> </a:t>
            </a:r>
            <a:r>
              <a:rPr kumimoji="1" lang="ko-KR" altLang="en-US" sz="1600" b="1" dirty="0" err="1"/>
              <a:t>서비스중</a:t>
            </a:r>
            <a:endParaRPr kumimoji="1" lang="en-US" altLang="ko-KR" sz="16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074D1C-A61E-0645-B9E0-B9A2D7FA6E91}"/>
              </a:ext>
            </a:extLst>
          </p:cNvPr>
          <p:cNvSpPr txBox="1"/>
          <p:nvPr/>
        </p:nvSpPr>
        <p:spPr>
          <a:xfrm>
            <a:off x="2860274" y="4086225"/>
            <a:ext cx="64714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ore-KR" dirty="0">
                <a:hlinkClick r:id="rId2"/>
              </a:rPr>
              <a:t>Git: </a:t>
            </a:r>
            <a:r>
              <a:rPr lang="en" altLang="ko-Kore-KR" dirty="0">
                <a:hlinkClick r:id="rId2"/>
              </a:rPr>
              <a:t>https://bitbucket.org/Guyclops/handamclient/src/master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512052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2537016" y="613745"/>
            <a:ext cx="1755647" cy="374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dirty="0"/>
              <a:t>한담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85522" y="2023329"/>
            <a:ext cx="2516623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한성대학교의 강의평가 정보는 교수님들만 알 수 있고 학생들은 알 수 없어서 강의를 선택할 때 불편함이 있었다</a:t>
            </a:r>
            <a:r>
              <a:rPr lang="en-US" altLang="ko-KR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.</a:t>
            </a:r>
            <a:r>
              <a:rPr lang="ko-KR" altLang="en-US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endParaRPr lang="en-US" altLang="ko-KR" sz="105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r>
              <a:rPr lang="ko-KR" altLang="en-US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그래서 학생들이 강의평가를 하고 서로 정보를 공유할 수 있는 서비스를 기획하게 됐다</a:t>
            </a:r>
            <a:r>
              <a:rPr lang="en-US" altLang="ko-KR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.</a:t>
            </a:r>
            <a:r>
              <a:rPr lang="ko-KR" altLang="en-US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endParaRPr lang="en-US" altLang="ko-KR" sz="105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r>
              <a:rPr lang="ko-KR" altLang="en-US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지금은 단지 강의평가 서비스가 아닌 학생들의 편의를 위해 성적 확인 기능 및 셔틀버스</a:t>
            </a:r>
            <a:r>
              <a:rPr lang="en-US" altLang="ko-KR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,</a:t>
            </a:r>
            <a:r>
              <a:rPr lang="ko-KR" altLang="en-US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커뮤니티 기능이 추가 됐다</a:t>
            </a:r>
            <a:r>
              <a:rPr lang="en-US" altLang="ko-KR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.</a:t>
            </a:r>
            <a:endParaRPr lang="ko-KR" altLang="en-US" sz="1100" dirty="0"/>
          </a:p>
        </p:txBody>
      </p:sp>
      <p:sp>
        <p:nvSpPr>
          <p:cNvPr id="4" name="TextBox 3"/>
          <p:cNvSpPr txBox="1"/>
          <p:nvPr/>
        </p:nvSpPr>
        <p:spPr>
          <a:xfrm>
            <a:off x="485522" y="167731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latin typeface="+mj-lt"/>
              </a:rPr>
              <a:t>개요</a:t>
            </a:r>
          </a:p>
        </p:txBody>
      </p:sp>
      <p:pic>
        <p:nvPicPr>
          <p:cNvPr id="9" name="그림 8" descr="스크린샷이(가) 표시된 사진&#10;&#10;자동 생성된 설명">
            <a:extLst>
              <a:ext uri="{FF2B5EF4-FFF2-40B4-BE49-F238E27FC236}">
                <a16:creationId xmlns:a16="http://schemas.microsoft.com/office/drawing/2014/main" id="{9A2F64F1-70F6-3640-BC66-F758244C5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58" y="1011714"/>
            <a:ext cx="6459612" cy="5232541"/>
          </a:xfrm>
          <a:prstGeom prst="rect">
            <a:avLst/>
          </a:prstGeom>
          <a:ln>
            <a:solidFill>
              <a:srgbClr val="9DC2E5"/>
            </a:solidFill>
          </a:ln>
        </p:spPr>
      </p:pic>
    </p:spTree>
    <p:extLst>
      <p:ext uri="{BB962C8B-B14F-4D97-AF65-F5344CB8AC3E}">
        <p14:creationId xmlns:p14="http://schemas.microsoft.com/office/powerpoint/2010/main" val="3869243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2537016" y="613745"/>
            <a:ext cx="1755647" cy="374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dirty="0"/>
              <a:t>한담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85522" y="2766841"/>
            <a:ext cx="25166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100" dirty="0"/>
          </a:p>
        </p:txBody>
      </p:sp>
      <p:sp>
        <p:nvSpPr>
          <p:cNvPr id="4" name="TextBox 3"/>
          <p:cNvSpPr txBox="1"/>
          <p:nvPr/>
        </p:nvSpPr>
        <p:spPr>
          <a:xfrm>
            <a:off x="3414838" y="988649"/>
            <a:ext cx="16930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 err="1">
                <a:latin typeface="+mj-lt"/>
              </a:rPr>
              <a:t>프론트엔드</a:t>
            </a:r>
            <a:r>
              <a:rPr lang="ko-KR" altLang="en-US" sz="1600" b="1" dirty="0">
                <a:latin typeface="+mj-lt"/>
              </a:rPr>
              <a:t> 구조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25C40A0-433E-5346-8A81-C2EBD30B5D9C}"/>
              </a:ext>
            </a:extLst>
          </p:cNvPr>
          <p:cNvSpPr/>
          <p:nvPr/>
        </p:nvSpPr>
        <p:spPr>
          <a:xfrm>
            <a:off x="8773679" y="1873593"/>
            <a:ext cx="2229863" cy="391611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488B4F8-B8C2-FC44-9019-D3ACBE8B84ED}"/>
              </a:ext>
            </a:extLst>
          </p:cNvPr>
          <p:cNvGrpSpPr/>
          <p:nvPr/>
        </p:nvGrpSpPr>
        <p:grpSpPr>
          <a:xfrm>
            <a:off x="6400223" y="1306314"/>
            <a:ext cx="1343433" cy="1343433"/>
            <a:chOff x="6482935" y="988649"/>
            <a:chExt cx="1343433" cy="1343433"/>
          </a:xfrm>
        </p:grpSpPr>
        <p:pic>
          <p:nvPicPr>
            <p:cNvPr id="20" name="그래픽 19" descr="구름">
              <a:extLst>
                <a:ext uri="{FF2B5EF4-FFF2-40B4-BE49-F238E27FC236}">
                  <a16:creationId xmlns:a16="http://schemas.microsoft.com/office/drawing/2014/main" id="{1A2BED7A-A26C-BA43-823C-04BAC5207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82935" y="988649"/>
              <a:ext cx="1343433" cy="134343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BE111F5-A0FA-0242-A92D-364ED7B8C02B}"/>
                </a:ext>
              </a:extLst>
            </p:cNvPr>
            <p:cNvSpPr txBox="1"/>
            <p:nvPr/>
          </p:nvSpPr>
          <p:spPr>
            <a:xfrm>
              <a:off x="6649636" y="1596594"/>
              <a:ext cx="102190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ko-Kore-KR" sz="1200" dirty="0"/>
                <a:t>Code Push</a:t>
              </a:r>
              <a:endParaRPr kumimoji="1" lang="ko-Kore-KR" altLang="en-US" sz="1200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99676B81-C2F6-6D42-8F25-00905123CD55}"/>
              </a:ext>
            </a:extLst>
          </p:cNvPr>
          <p:cNvGrpSpPr/>
          <p:nvPr/>
        </p:nvGrpSpPr>
        <p:grpSpPr>
          <a:xfrm>
            <a:off x="9426785" y="2265058"/>
            <a:ext cx="923651" cy="1040343"/>
            <a:chOff x="3799558" y="2028630"/>
            <a:chExt cx="923651" cy="1040343"/>
          </a:xfrm>
        </p:grpSpPr>
        <p:pic>
          <p:nvPicPr>
            <p:cNvPr id="23" name="그림 22" descr="그리기, 창문이(가) 표시된 사진&#10;&#10;자동 생성된 설명">
              <a:extLst>
                <a:ext uri="{FF2B5EF4-FFF2-40B4-BE49-F238E27FC236}">
                  <a16:creationId xmlns:a16="http://schemas.microsoft.com/office/drawing/2014/main" id="{AFF5A0DA-0C96-B14A-BEC6-2BEB840B9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3843885" y="2028630"/>
              <a:ext cx="772071" cy="772071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5431BFE-BF76-8649-876D-0D93C52DFB1B}"/>
                </a:ext>
              </a:extLst>
            </p:cNvPr>
            <p:cNvSpPr txBox="1"/>
            <p:nvPr/>
          </p:nvSpPr>
          <p:spPr>
            <a:xfrm>
              <a:off x="3799558" y="2822752"/>
              <a:ext cx="9236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1000" dirty="0"/>
                <a:t>React Native</a:t>
              </a:r>
              <a:endParaRPr kumimoji="1" lang="ko-Kore-KR" altLang="en-US" sz="1000" dirty="0"/>
            </a:p>
          </p:txBody>
        </p:sp>
      </p:grp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DFE50DC4-2DDE-564F-9A27-D78F7FDE7DFE}"/>
              </a:ext>
            </a:extLst>
          </p:cNvPr>
          <p:cNvCxnSpPr>
            <a:stCxn id="7" idx="1"/>
          </p:cNvCxnSpPr>
          <p:nvPr/>
        </p:nvCxnSpPr>
        <p:spPr>
          <a:xfrm flipH="1" flipV="1">
            <a:off x="7588826" y="2265058"/>
            <a:ext cx="1184853" cy="156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8042618C-BE2E-174A-9868-1E2E2B32367B}"/>
              </a:ext>
            </a:extLst>
          </p:cNvPr>
          <p:cNvCxnSpPr>
            <a:cxnSpLocks/>
          </p:cNvCxnSpPr>
          <p:nvPr/>
        </p:nvCxnSpPr>
        <p:spPr>
          <a:xfrm flipH="1">
            <a:off x="5376316" y="2244085"/>
            <a:ext cx="1190608" cy="16920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3D8A476-FC8A-544E-A7D4-F0BD02385633}"/>
              </a:ext>
            </a:extLst>
          </p:cNvPr>
          <p:cNvSpPr txBox="1"/>
          <p:nvPr/>
        </p:nvSpPr>
        <p:spPr>
          <a:xfrm>
            <a:off x="7785907" y="2782308"/>
            <a:ext cx="7802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400" dirty="0"/>
              <a:t>Upload</a:t>
            </a:r>
            <a:endParaRPr kumimoji="1" lang="ko-Kore-KR" alt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305B28-DEBC-3D4B-B355-AABBA3249E58}"/>
              </a:ext>
            </a:extLst>
          </p:cNvPr>
          <p:cNvSpPr txBox="1"/>
          <p:nvPr/>
        </p:nvSpPr>
        <p:spPr>
          <a:xfrm>
            <a:off x="5586953" y="2751403"/>
            <a:ext cx="10480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400" dirty="0"/>
              <a:t>Download</a:t>
            </a:r>
            <a:endParaRPr kumimoji="1" lang="ko-Kore-KR" altLang="en-US" sz="1400" dirty="0"/>
          </a:p>
        </p:txBody>
      </p:sp>
      <p:pic>
        <p:nvPicPr>
          <p:cNvPr id="36" name="그림 35" descr="표지판, 시계이(가) 표시된 사진&#10;&#10;자동 생성된 설명">
            <a:extLst>
              <a:ext uri="{FF2B5EF4-FFF2-40B4-BE49-F238E27FC236}">
                <a16:creationId xmlns:a16="http://schemas.microsoft.com/office/drawing/2014/main" id="{46ABD9B3-6173-9D4D-8636-B9389FB7E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995" y="3410748"/>
            <a:ext cx="1031230" cy="1031230"/>
          </a:xfrm>
          <a:prstGeom prst="rect">
            <a:avLst/>
          </a:prstGeom>
        </p:spPr>
      </p:pic>
      <p:pic>
        <p:nvPicPr>
          <p:cNvPr id="38" name="그림 37" descr="그리기이(가) 표시된 사진&#10;&#10;자동 생성된 설명">
            <a:extLst>
              <a:ext uri="{FF2B5EF4-FFF2-40B4-BE49-F238E27FC236}">
                <a16:creationId xmlns:a16="http://schemas.microsoft.com/office/drawing/2014/main" id="{276DD399-378E-EC40-AAB2-751C863FDE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0616" y="4547326"/>
            <a:ext cx="1466339" cy="1146752"/>
          </a:xfrm>
          <a:prstGeom prst="rect">
            <a:avLst/>
          </a:prstGeom>
        </p:spPr>
      </p:pic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22E531E8-9367-DF4A-AF6C-502997932E0C}"/>
              </a:ext>
            </a:extLst>
          </p:cNvPr>
          <p:cNvCxnSpPr/>
          <p:nvPr/>
        </p:nvCxnSpPr>
        <p:spPr>
          <a:xfrm flipH="1">
            <a:off x="5376316" y="4845269"/>
            <a:ext cx="33973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19A8EC5-3AC5-084E-B235-E5E41A3F6744}"/>
              </a:ext>
            </a:extLst>
          </p:cNvPr>
          <p:cNvSpPr txBox="1"/>
          <p:nvPr/>
        </p:nvSpPr>
        <p:spPr>
          <a:xfrm>
            <a:off x="5936961" y="4510067"/>
            <a:ext cx="2276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400" dirty="0"/>
              <a:t>Android, IOS Native Build</a:t>
            </a:r>
            <a:endParaRPr kumimoji="1" lang="ko-Kore-KR" altLang="en-US" sz="1400" dirty="0"/>
          </a:p>
        </p:txBody>
      </p:sp>
      <p:pic>
        <p:nvPicPr>
          <p:cNvPr id="47" name="그림 46" descr="스크린샷이(가) 표시된 사진&#10;&#10;자동 생성된 설명">
            <a:extLst>
              <a:ext uri="{FF2B5EF4-FFF2-40B4-BE49-F238E27FC236}">
                <a16:creationId xmlns:a16="http://schemas.microsoft.com/office/drawing/2014/main" id="{712AF983-4F7E-9E45-84CF-A6DEB71F00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6805" y="1463808"/>
            <a:ext cx="2379193" cy="4780448"/>
          </a:xfrm>
          <a:prstGeom prst="rect">
            <a:avLst/>
          </a:prstGeom>
          <a:ln>
            <a:solidFill>
              <a:srgbClr val="9DC2E5"/>
            </a:solidFill>
          </a:ln>
        </p:spPr>
      </p:pic>
    </p:spTree>
    <p:extLst>
      <p:ext uri="{BB962C8B-B14F-4D97-AF65-F5344CB8AC3E}">
        <p14:creationId xmlns:p14="http://schemas.microsoft.com/office/powerpoint/2010/main" val="1178854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2537016" y="613745"/>
            <a:ext cx="1755647" cy="374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dirty="0"/>
              <a:t>한담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85522" y="2766841"/>
            <a:ext cx="25166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sz="1100" dirty="0"/>
          </a:p>
        </p:txBody>
      </p:sp>
      <p:sp>
        <p:nvSpPr>
          <p:cNvPr id="4" name="TextBox 3"/>
          <p:cNvSpPr txBox="1"/>
          <p:nvPr/>
        </p:nvSpPr>
        <p:spPr>
          <a:xfrm>
            <a:off x="3414838" y="988649"/>
            <a:ext cx="29354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 err="1">
                <a:latin typeface="+mj-lt"/>
              </a:rPr>
              <a:t>프론트엔드</a:t>
            </a:r>
            <a:r>
              <a:rPr lang="ko-KR" altLang="en-US" sz="1600" b="1" dirty="0">
                <a:latin typeface="+mj-lt"/>
              </a:rPr>
              <a:t> 사용 기술 및 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4839" y="1327985"/>
            <a:ext cx="5727850" cy="46628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eaLnBrk="0">
              <a:buFontTx/>
              <a:buChar char="-"/>
            </a:pP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React Native(v0.59.10): Android 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와 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IOS 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개발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,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Javascript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사용</a:t>
            </a: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Redux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: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상태관리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라이브러리</a:t>
            </a: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Immerjs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: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불변성 관리 라이브러리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(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한담 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Version3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부터 도입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)</a:t>
            </a: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styled-components: 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스타일링 라이브러리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(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한담 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Version3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부터 도입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)</a:t>
            </a: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Git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: 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형상관리 도구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(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원격 저장소로 </a:t>
            </a: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github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사용하다 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Version3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부터 </a:t>
            </a: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bitbucket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으로 이동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)</a:t>
            </a: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Code-Push: 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라이브 업데이트</a:t>
            </a: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Eslint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: Coding convention(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한담 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Version3</a:t>
            </a:r>
            <a:r>
              <a:rPr lang="ko-KR" altLang="en-US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부터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도입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)</a:t>
            </a:r>
          </a:p>
          <a:p>
            <a:pPr eaLnBrk="0"/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/>
            <a:r>
              <a:rPr lang="ko-KR" altLang="en-US" sz="1100" b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개발도구</a:t>
            </a:r>
            <a:endParaRPr lang="en-US" altLang="ko-KR" sz="1100" b="1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/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WebStorm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, Visual Studio Code</a:t>
            </a: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Zeplin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: 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디자인 협업 도구로 </a:t>
            </a:r>
            <a:r>
              <a:rPr lang="ko-KR" altLang="en-US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사용중</a:t>
            </a: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Git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Client: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SourceTree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, Fork</a:t>
            </a:r>
          </a:p>
          <a:p>
            <a:endParaRPr lang="en-US" altLang="ko-KR" sz="1100" dirty="0"/>
          </a:p>
          <a:p>
            <a:r>
              <a:rPr lang="ko-KR" altLang="en-US" sz="1100" b="1" dirty="0"/>
              <a:t>다운로드</a:t>
            </a:r>
            <a:endParaRPr lang="en-US" altLang="ko-KR" sz="1100" b="1" dirty="0"/>
          </a:p>
          <a:p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en-US" altLang="ko-KR" sz="1100" dirty="0"/>
              <a:t>Android: </a:t>
            </a:r>
            <a:r>
              <a:rPr lang="en" altLang="ko-Kore-KR" sz="1100" dirty="0">
                <a:hlinkClick r:id="rId2"/>
              </a:rPr>
              <a:t>https://play.google.com/store/apps/details?id=com.handamproject</a:t>
            </a:r>
            <a:endParaRPr lang="en" altLang="ko-Kore-KR" sz="1100" dirty="0"/>
          </a:p>
          <a:p>
            <a:pPr marL="171450" indent="-171450">
              <a:buFontTx/>
              <a:buChar char="-"/>
            </a:pPr>
            <a:endParaRPr lang="en" altLang="ko-KR" sz="1100" dirty="0"/>
          </a:p>
          <a:p>
            <a:pPr marL="171450" indent="-171450">
              <a:buFontTx/>
              <a:buChar char="-"/>
            </a:pPr>
            <a:r>
              <a:rPr lang="en" altLang="ko-KR" sz="1100" dirty="0"/>
              <a:t>IOS: </a:t>
            </a:r>
            <a:r>
              <a:rPr lang="en" altLang="ko-Kore-KR" sz="1100" dirty="0">
                <a:hlinkClick r:id="rId3"/>
              </a:rPr>
              <a:t>https://apps.apple.com/kr/app/%ED%95%9C%EB%8B%B4/id1437741744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979396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2221426" y="613745"/>
            <a:ext cx="1755647" cy="374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dirty="0"/>
              <a:t>Project</a:t>
            </a:r>
            <a:endParaRPr kumimoji="1"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8FC71B-3473-0340-A49E-80A68AF8457B}"/>
              </a:ext>
            </a:extLst>
          </p:cNvPr>
          <p:cNvSpPr txBox="1"/>
          <p:nvPr/>
        </p:nvSpPr>
        <p:spPr>
          <a:xfrm>
            <a:off x="3767629" y="3110426"/>
            <a:ext cx="4656742" cy="574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ko-KR" altLang="en-US" sz="2400" b="1" dirty="0" err="1">
                <a:latin typeface="+mj-lt"/>
              </a:rPr>
              <a:t>데이터랩</a:t>
            </a:r>
            <a:r>
              <a:rPr kumimoji="1" lang="en-US" altLang="ko-KR" sz="2400" b="1" dirty="0">
                <a:latin typeface="+mj-lt"/>
              </a:rPr>
              <a:t> – </a:t>
            </a:r>
            <a:r>
              <a:rPr kumimoji="1" lang="ko-KR" altLang="en-US" sz="2400" b="1" dirty="0" err="1">
                <a:latin typeface="+mj-lt"/>
              </a:rPr>
              <a:t>키즈팩토리</a:t>
            </a:r>
            <a:r>
              <a:rPr kumimoji="1" lang="ko-KR" altLang="en-US" sz="2400" b="1" dirty="0">
                <a:latin typeface="+mj-lt"/>
              </a:rPr>
              <a:t> </a:t>
            </a:r>
            <a:r>
              <a:rPr kumimoji="1" lang="ko-KR" altLang="en-US" sz="2400" b="1" dirty="0" err="1">
                <a:latin typeface="+mj-lt"/>
              </a:rPr>
              <a:t>데이터랩</a:t>
            </a:r>
            <a:endParaRPr kumimoji="1" lang="en-US" altLang="ko-KR" sz="24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60760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1977108" y="630936"/>
            <a:ext cx="1122142" cy="374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dirty="0" err="1"/>
              <a:t>데이터랩</a:t>
            </a:r>
            <a:endParaRPr kumimoji="1" lang="ko-KR" alt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485522" y="2023329"/>
            <a:ext cx="2516623" cy="10306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eaLnBrk="0">
              <a:lnSpc>
                <a:spcPct val="150000"/>
              </a:lnSpc>
            </a:pPr>
            <a:r>
              <a:rPr lang="ko-KR" altLang="en-US" sz="105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키즈팩토리</a:t>
            </a:r>
            <a:r>
              <a:rPr lang="ko-KR" altLang="en-US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솔루션 사용중인 </a:t>
            </a:r>
            <a:r>
              <a:rPr lang="ko-KR" altLang="en-US" sz="105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키즈</a:t>
            </a:r>
            <a:r>
              <a:rPr lang="ko-KR" altLang="en-US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카페들의 종합적인 데이터를 시각화 하여 보여준다</a:t>
            </a:r>
            <a:r>
              <a:rPr lang="en-US" altLang="ko-KR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.</a:t>
            </a:r>
            <a:r>
              <a:rPr lang="ko-KR" altLang="en-US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이를 솔루션 영업 시 사용하여 도움이 되었다</a:t>
            </a:r>
            <a:r>
              <a:rPr lang="en-US" altLang="ko-KR" sz="105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.</a:t>
            </a:r>
            <a:endParaRPr lang="ko-KR" altLang="en-US" sz="105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85522" y="167731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latin typeface="+mj-lt"/>
              </a:rPr>
              <a:t>개요</a:t>
            </a:r>
          </a:p>
        </p:txBody>
      </p:sp>
      <p:pic>
        <p:nvPicPr>
          <p:cNvPr id="7" name="그림 6" descr="그리기이(가) 표시된 사진&#10;&#10;자동 생성된 설명">
            <a:extLst>
              <a:ext uri="{FF2B5EF4-FFF2-40B4-BE49-F238E27FC236}">
                <a16:creationId xmlns:a16="http://schemas.microsoft.com/office/drawing/2014/main" id="{2CEF4A7C-D57D-A441-B630-185CE0224E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1197" y="2287002"/>
            <a:ext cx="1756781" cy="967433"/>
          </a:xfrm>
          <a:prstGeom prst="rect">
            <a:avLst/>
          </a:prstGeom>
        </p:spPr>
      </p:pic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3C714A0-3E0A-7242-9C7B-69D2A675E08F}"/>
              </a:ext>
            </a:extLst>
          </p:cNvPr>
          <p:cNvSpPr/>
          <p:nvPr/>
        </p:nvSpPr>
        <p:spPr>
          <a:xfrm>
            <a:off x="3324031" y="1496744"/>
            <a:ext cx="7271824" cy="259327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pic>
        <p:nvPicPr>
          <p:cNvPr id="13" name="그림 12" descr="표지판, 그리기이(가) 표시된 사진&#10;&#10;자동 생성된 설명">
            <a:extLst>
              <a:ext uri="{FF2B5EF4-FFF2-40B4-BE49-F238E27FC236}">
                <a16:creationId xmlns:a16="http://schemas.microsoft.com/office/drawing/2014/main" id="{9BB43876-42A0-164B-BBC4-DF8F22B432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9477" y="1697286"/>
            <a:ext cx="3111500" cy="2070100"/>
          </a:xfrm>
          <a:prstGeom prst="rect">
            <a:avLst/>
          </a:prstGeom>
        </p:spPr>
      </p:pic>
      <p:pic>
        <p:nvPicPr>
          <p:cNvPr id="15" name="그림 14" descr="그리기이(가) 표시된 사진&#10;&#10;자동 생성된 설명">
            <a:extLst>
              <a:ext uri="{FF2B5EF4-FFF2-40B4-BE49-F238E27FC236}">
                <a16:creationId xmlns:a16="http://schemas.microsoft.com/office/drawing/2014/main" id="{0F2997FA-135E-5D41-B13E-A255D6DE6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631" y="4356773"/>
            <a:ext cx="2960369" cy="189134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C425E66-163D-564A-8C1B-7D1281CD91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5258" y="783881"/>
            <a:ext cx="1281113" cy="1369743"/>
          </a:xfrm>
          <a:prstGeom prst="rect">
            <a:avLst/>
          </a:prstGeom>
        </p:spPr>
      </p:pic>
      <p:pic>
        <p:nvPicPr>
          <p:cNvPr id="20" name="그림 19" descr="그리기이(가) 표시된 사진&#10;&#10;자동 생성된 설명">
            <a:extLst>
              <a:ext uri="{FF2B5EF4-FFF2-40B4-BE49-F238E27FC236}">
                <a16:creationId xmlns:a16="http://schemas.microsoft.com/office/drawing/2014/main" id="{F58A7B89-511E-1B42-8125-E8FF43156D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2410" y="4593203"/>
            <a:ext cx="1676830" cy="1257623"/>
          </a:xfrm>
          <a:prstGeom prst="rect">
            <a:avLst/>
          </a:prstGeom>
        </p:spPr>
      </p:pic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E10DD105-B842-4D46-B790-3DA9132A45EC}"/>
              </a:ext>
            </a:extLst>
          </p:cNvPr>
          <p:cNvCxnSpPr/>
          <p:nvPr/>
        </p:nvCxnSpPr>
        <p:spPr>
          <a:xfrm>
            <a:off x="6600825" y="4090018"/>
            <a:ext cx="0" cy="503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497A2BF-7531-104B-A79E-444816D5282A}"/>
              </a:ext>
            </a:extLst>
          </p:cNvPr>
          <p:cNvCxnSpPr/>
          <p:nvPr/>
        </p:nvCxnSpPr>
        <p:spPr>
          <a:xfrm flipV="1">
            <a:off x="4615814" y="4090018"/>
            <a:ext cx="0" cy="503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642B0B1-5C1F-734E-86BC-A7CD3B249271}"/>
              </a:ext>
            </a:extLst>
          </p:cNvPr>
          <p:cNvSpPr txBox="1"/>
          <p:nvPr/>
        </p:nvSpPr>
        <p:spPr>
          <a:xfrm>
            <a:off x="4615814" y="4268844"/>
            <a:ext cx="8707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200" dirty="0"/>
              <a:t>Data </a:t>
            </a:r>
            <a:r>
              <a:rPr kumimoji="1" lang="ko-Kore-KR" altLang="en-US" sz="1200" dirty="0"/>
              <a:t>조회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B0541BC-0057-774A-8120-23D0A2DD72E6}"/>
              </a:ext>
            </a:extLst>
          </p:cNvPr>
          <p:cNvSpPr txBox="1"/>
          <p:nvPr/>
        </p:nvSpPr>
        <p:spPr>
          <a:xfrm>
            <a:off x="6595348" y="4270743"/>
            <a:ext cx="12170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1200" dirty="0"/>
              <a:t>실패</a:t>
            </a:r>
            <a:r>
              <a:rPr kumimoji="1" lang="ko-KR" altLang="en-US" sz="1200" dirty="0"/>
              <a:t> </a:t>
            </a:r>
            <a:r>
              <a:rPr kumimoji="1" lang="ko-Kore-KR" altLang="en-US" sz="1200" dirty="0"/>
              <a:t>로그</a:t>
            </a:r>
            <a:r>
              <a:rPr kumimoji="1" lang="ko-KR" altLang="en-US" sz="1200" dirty="0"/>
              <a:t> 저장</a:t>
            </a:r>
            <a:endParaRPr kumimoji="1" lang="ko-Kore-KR" altLang="en-US" sz="12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3FE1BD5-0001-2144-A8B1-3D14FF877033}"/>
              </a:ext>
            </a:extLst>
          </p:cNvPr>
          <p:cNvSpPr txBox="1"/>
          <p:nvPr/>
        </p:nvSpPr>
        <p:spPr>
          <a:xfrm>
            <a:off x="534079" y="3930290"/>
            <a:ext cx="2516623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∙ </a:t>
            </a:r>
            <a:r>
              <a:rPr lang="en-US" altLang="ko-KR" sz="1100" dirty="0" err="1"/>
              <a:t>Express.js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en-US" altLang="ko-KR" sz="1100" dirty="0"/>
              <a:t>∙ AWS RDS MySQL</a:t>
            </a:r>
          </a:p>
          <a:p>
            <a:endParaRPr lang="en-US" altLang="ko-KR" sz="1100" dirty="0"/>
          </a:p>
          <a:p>
            <a:r>
              <a:rPr lang="en-US" altLang="ko-KR" sz="1100" dirty="0"/>
              <a:t>∙ html, </a:t>
            </a:r>
            <a:r>
              <a:rPr lang="en-US" altLang="ko-KR" sz="1100" dirty="0" err="1"/>
              <a:t>css</a:t>
            </a:r>
            <a:r>
              <a:rPr lang="en-US" altLang="ko-KR" sz="1100" dirty="0"/>
              <a:t>, </a:t>
            </a:r>
            <a:r>
              <a:rPr lang="en-US" altLang="ko-KR" sz="1100" dirty="0" err="1"/>
              <a:t>js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en-US" altLang="ko-KR" sz="1100" dirty="0"/>
              <a:t>∙ AWS S3</a:t>
            </a:r>
          </a:p>
        </p:txBody>
      </p:sp>
    </p:spTree>
    <p:extLst>
      <p:ext uri="{BB962C8B-B14F-4D97-AF65-F5344CB8AC3E}">
        <p14:creationId xmlns:p14="http://schemas.microsoft.com/office/powerpoint/2010/main" val="2160940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1977108" y="630936"/>
            <a:ext cx="1122142" cy="374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dirty="0" err="1"/>
              <a:t>데이터랩</a:t>
            </a:r>
            <a:endParaRPr kumimoji="1"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184875-DDFC-B345-B4E2-F6E744F59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4838" y="1493489"/>
            <a:ext cx="8300946" cy="50514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C6C257F-62EF-204B-9378-1333AE9391B4}"/>
              </a:ext>
            </a:extLst>
          </p:cNvPr>
          <p:cNvSpPr txBox="1"/>
          <p:nvPr/>
        </p:nvSpPr>
        <p:spPr>
          <a:xfrm>
            <a:off x="3414838" y="988649"/>
            <a:ext cx="59154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latin typeface="+mj-lt"/>
              </a:rPr>
              <a:t>메인 화면 </a:t>
            </a:r>
            <a:r>
              <a:rPr lang="en-US" altLang="ko-KR" sz="1600" b="1" dirty="0">
                <a:latin typeface="+mj-lt"/>
              </a:rPr>
              <a:t>-</a:t>
            </a:r>
            <a:r>
              <a:rPr lang="ko-KR" altLang="en-US" sz="1600" b="1" dirty="0">
                <a:latin typeface="+mj-lt"/>
              </a:rPr>
              <a:t> 지역별 </a:t>
            </a:r>
            <a:r>
              <a:rPr lang="ko-KR" altLang="en-US" sz="1600" b="1" dirty="0" err="1">
                <a:latin typeface="+mj-lt"/>
              </a:rPr>
              <a:t>키즈카페</a:t>
            </a:r>
            <a:r>
              <a:rPr lang="ko-KR" altLang="en-US" sz="1600" b="1" dirty="0">
                <a:latin typeface="+mj-lt"/>
              </a:rPr>
              <a:t> 회원 수 및 전체적인 데이터 통계</a:t>
            </a:r>
          </a:p>
        </p:txBody>
      </p:sp>
    </p:spTree>
    <p:extLst>
      <p:ext uri="{BB962C8B-B14F-4D97-AF65-F5344CB8AC3E}">
        <p14:creationId xmlns:p14="http://schemas.microsoft.com/office/powerpoint/2010/main" val="2414266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1977108" y="630936"/>
            <a:ext cx="1122142" cy="374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dirty="0" err="1"/>
              <a:t>데이터랩</a:t>
            </a:r>
            <a:endParaRPr kumimoji="1"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6C257F-62EF-204B-9378-1333AE9391B4}"/>
              </a:ext>
            </a:extLst>
          </p:cNvPr>
          <p:cNvSpPr txBox="1"/>
          <p:nvPr/>
        </p:nvSpPr>
        <p:spPr>
          <a:xfrm>
            <a:off x="3414838" y="988649"/>
            <a:ext cx="61205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latin typeface="+mj-lt"/>
              </a:rPr>
              <a:t>메인 화면 </a:t>
            </a:r>
            <a:r>
              <a:rPr lang="en-US" altLang="ko-KR" sz="1600" b="1" dirty="0">
                <a:latin typeface="+mj-lt"/>
              </a:rPr>
              <a:t>-</a:t>
            </a:r>
            <a:r>
              <a:rPr lang="ko-KR" altLang="en-US" sz="1600" b="1" dirty="0">
                <a:latin typeface="+mj-lt"/>
              </a:rPr>
              <a:t> 지역별 </a:t>
            </a:r>
            <a:r>
              <a:rPr lang="ko-KR" altLang="en-US" sz="1600" b="1" dirty="0" err="1">
                <a:latin typeface="+mj-lt"/>
              </a:rPr>
              <a:t>키즈카페</a:t>
            </a:r>
            <a:r>
              <a:rPr lang="ko-KR" altLang="en-US" sz="1600" b="1" dirty="0">
                <a:latin typeface="+mj-lt"/>
              </a:rPr>
              <a:t> 회원 수 및 전체적인 데이터 통계</a:t>
            </a:r>
          </a:p>
        </p:txBody>
      </p:sp>
      <p:pic>
        <p:nvPicPr>
          <p:cNvPr id="11" name="그림 10" descr="스크린샷, 모니터, 앉아있는이(가) 표시된 사진&#10;&#10;자동 생성된 설명">
            <a:extLst>
              <a:ext uri="{FF2B5EF4-FFF2-40B4-BE49-F238E27FC236}">
                <a16:creationId xmlns:a16="http://schemas.microsoft.com/office/drawing/2014/main" id="{E7636EDA-1026-0541-80DF-AD4E031DA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4837" y="1480488"/>
            <a:ext cx="8300947" cy="506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03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2221426" y="613745"/>
            <a:ext cx="1755647" cy="374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dirty="0"/>
              <a:t>Project</a:t>
            </a:r>
            <a:endParaRPr kumimoji="1"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8FC71B-3473-0340-A49E-80A68AF8457B}"/>
              </a:ext>
            </a:extLst>
          </p:cNvPr>
          <p:cNvSpPr txBox="1"/>
          <p:nvPr/>
        </p:nvSpPr>
        <p:spPr>
          <a:xfrm>
            <a:off x="4031714" y="3110426"/>
            <a:ext cx="4128572" cy="574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ko-KR" altLang="en-US" sz="2400" b="1" dirty="0" err="1">
                <a:latin typeface="+mj-lt"/>
              </a:rPr>
              <a:t>키즈</a:t>
            </a:r>
            <a:r>
              <a:rPr kumimoji="1" lang="ko-KR" altLang="en-US" sz="2400" b="1" dirty="0">
                <a:latin typeface="+mj-lt"/>
              </a:rPr>
              <a:t> 카페 </a:t>
            </a:r>
            <a:r>
              <a:rPr kumimoji="1" lang="ko-KR" altLang="en-US" sz="2400" b="1" dirty="0" err="1">
                <a:latin typeface="+mj-lt"/>
              </a:rPr>
              <a:t>점주용</a:t>
            </a:r>
            <a:r>
              <a:rPr kumimoji="1" lang="ko-KR" altLang="en-US" sz="2400" b="1" dirty="0">
                <a:latin typeface="+mj-lt"/>
              </a:rPr>
              <a:t> 웹 서비스</a:t>
            </a:r>
            <a:endParaRPr kumimoji="1" lang="en-US" altLang="ko-KR" sz="24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DA87EF-7263-3547-8F3A-5A40E910F2D4}"/>
              </a:ext>
            </a:extLst>
          </p:cNvPr>
          <p:cNvSpPr txBox="1"/>
          <p:nvPr/>
        </p:nvSpPr>
        <p:spPr>
          <a:xfrm>
            <a:off x="3222232" y="4043363"/>
            <a:ext cx="5747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ko-Kore-KR" dirty="0">
                <a:hlinkClick r:id="rId2"/>
              </a:rPr>
              <a:t>https://github.com/Guyclops/kidsfactory-shop-admin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589372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783039" y="637423"/>
            <a:ext cx="24033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400" b="1" dirty="0" err="1"/>
              <a:t>키즈</a:t>
            </a:r>
            <a:r>
              <a:rPr kumimoji="1" lang="ko-KR" altLang="en-US" sz="1400" b="1" dirty="0"/>
              <a:t> 카페 </a:t>
            </a:r>
            <a:r>
              <a:rPr kumimoji="1" lang="ko-KR" altLang="en-US" sz="1400" b="1" dirty="0" err="1"/>
              <a:t>점주용</a:t>
            </a:r>
            <a:r>
              <a:rPr kumimoji="1" lang="ko-KR" altLang="en-US" sz="1400" b="1" dirty="0"/>
              <a:t> 웹 서비스</a:t>
            </a:r>
            <a:endParaRPr kumimoji="1" lang="en-US" altLang="ko-KR" sz="1400" b="1" dirty="0"/>
          </a:p>
          <a:p>
            <a:endParaRPr kumimoji="1" lang="ko-KR" alt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485522" y="2023329"/>
            <a:ext cx="2516623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키즈팩토리</a:t>
            </a:r>
            <a:r>
              <a:rPr lang="ko-KR" altLang="en-US" sz="1100" dirty="0"/>
              <a:t> 솔루션을 사용하는 </a:t>
            </a:r>
            <a:r>
              <a:rPr lang="ko-KR" altLang="en-US" sz="1100" dirty="0" err="1"/>
              <a:t>키즈</a:t>
            </a:r>
            <a:r>
              <a:rPr lang="ko-KR" altLang="en-US" sz="1100" dirty="0"/>
              <a:t> 카페 점주들을 위해 웹으로 통계 및 고객 대상 문자 전송 서비스를 제공하기위해 만든 서비스다</a:t>
            </a:r>
            <a:r>
              <a:rPr lang="en-US" altLang="ko-KR" sz="1100" dirty="0"/>
              <a:t>.</a:t>
            </a:r>
          </a:p>
          <a:p>
            <a:endParaRPr lang="en-US" altLang="ko-KR" sz="1100" dirty="0"/>
          </a:p>
          <a:p>
            <a:r>
              <a:rPr lang="ko-KR" altLang="en-US" sz="1100" dirty="0"/>
              <a:t>초기 구현은</a:t>
            </a:r>
            <a:r>
              <a:rPr lang="en-US" altLang="ko-KR" sz="1100" dirty="0"/>
              <a:t> React </a:t>
            </a:r>
            <a:r>
              <a:rPr lang="ko-KR" altLang="en-US" sz="1100" dirty="0"/>
              <a:t>템플릿 기반으로 구현하였고 </a:t>
            </a:r>
            <a:r>
              <a:rPr lang="ko-KR" altLang="en-US" sz="1100" dirty="0" err="1"/>
              <a:t>리뉴얼</a:t>
            </a:r>
            <a:r>
              <a:rPr lang="ko-KR" altLang="en-US" sz="1100" dirty="0"/>
              <a:t> </a:t>
            </a:r>
            <a:r>
              <a:rPr lang="ko-KR" altLang="en-US" sz="1100" dirty="0" err="1"/>
              <a:t>할때는</a:t>
            </a:r>
            <a:r>
              <a:rPr lang="ko-KR" altLang="en-US" sz="1100" dirty="0"/>
              <a:t> </a:t>
            </a:r>
            <a:r>
              <a:rPr lang="en-US" altLang="ko-KR" sz="1100" dirty="0" err="1"/>
              <a:t>Gatsbyjs</a:t>
            </a:r>
            <a:r>
              <a:rPr lang="ko-KR" altLang="en-US" sz="1100" dirty="0"/>
              <a:t> 에 </a:t>
            </a:r>
            <a:r>
              <a:rPr lang="en-US" altLang="ko-KR" sz="1100" dirty="0"/>
              <a:t>Material </a:t>
            </a:r>
            <a:r>
              <a:rPr lang="en-US" altLang="ko-KR" sz="1100" dirty="0" err="1"/>
              <a:t>ui</a:t>
            </a:r>
            <a:r>
              <a:rPr lang="ko-KR" altLang="en-US" sz="1100" dirty="0" err="1"/>
              <a:t>를</a:t>
            </a:r>
            <a:r>
              <a:rPr lang="ko-KR" altLang="en-US" sz="1100" dirty="0"/>
              <a:t> 사용하여 구현하였다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sp>
        <p:nvSpPr>
          <p:cNvPr id="4" name="TextBox 3"/>
          <p:cNvSpPr txBox="1"/>
          <p:nvPr/>
        </p:nvSpPr>
        <p:spPr>
          <a:xfrm>
            <a:off x="485522" y="1677318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latin typeface="+mj-lt"/>
              </a:rPr>
              <a:t>개요</a:t>
            </a:r>
          </a:p>
        </p:txBody>
      </p:sp>
      <p:pic>
        <p:nvPicPr>
          <p:cNvPr id="7" name="그림 6" descr="스크린샷이(가) 표시된 사진&#10;&#10;자동 생성된 설명">
            <a:extLst>
              <a:ext uri="{FF2B5EF4-FFF2-40B4-BE49-F238E27FC236}">
                <a16:creationId xmlns:a16="http://schemas.microsoft.com/office/drawing/2014/main" id="{C3A1135C-0329-574D-A2D6-8C161B9AB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5768" y="1095533"/>
            <a:ext cx="8250620" cy="5047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0507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783039" y="637423"/>
            <a:ext cx="24033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400" b="1" dirty="0" err="1"/>
              <a:t>키즈</a:t>
            </a:r>
            <a:r>
              <a:rPr kumimoji="1" lang="ko-KR" altLang="en-US" sz="1400" b="1" dirty="0"/>
              <a:t> 카페 </a:t>
            </a:r>
            <a:r>
              <a:rPr kumimoji="1" lang="ko-KR" altLang="en-US" sz="1400" b="1" dirty="0" err="1"/>
              <a:t>점주용</a:t>
            </a:r>
            <a:r>
              <a:rPr kumimoji="1" lang="ko-KR" altLang="en-US" sz="1400" b="1" dirty="0"/>
              <a:t> 웹 서비스</a:t>
            </a:r>
            <a:endParaRPr kumimoji="1" lang="en-US" altLang="ko-KR" sz="1400" b="1" dirty="0"/>
          </a:p>
          <a:p>
            <a:endParaRPr kumimoji="1" lang="ko-KR" altLang="en-US" dirty="0"/>
          </a:p>
        </p:txBody>
      </p:sp>
      <p:pic>
        <p:nvPicPr>
          <p:cNvPr id="8" name="그림 7" descr="스크린샷이(가) 표시된 사진&#10;&#10;자동 생성된 설명">
            <a:extLst>
              <a:ext uri="{FF2B5EF4-FFF2-40B4-BE49-F238E27FC236}">
                <a16:creationId xmlns:a16="http://schemas.microsoft.com/office/drawing/2014/main" id="{1EB568CA-B121-3740-8498-38F9640D1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5179" y="1344362"/>
            <a:ext cx="8541299" cy="5200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68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783039" y="637423"/>
            <a:ext cx="24033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400" b="1" dirty="0" err="1"/>
              <a:t>키즈</a:t>
            </a:r>
            <a:r>
              <a:rPr kumimoji="1" lang="ko-KR" altLang="en-US" sz="1400" b="1" dirty="0"/>
              <a:t> 카페 </a:t>
            </a:r>
            <a:r>
              <a:rPr kumimoji="1" lang="ko-KR" altLang="en-US" sz="1400" b="1" dirty="0" err="1"/>
              <a:t>점주용</a:t>
            </a:r>
            <a:r>
              <a:rPr kumimoji="1" lang="ko-KR" altLang="en-US" sz="1400" b="1" dirty="0"/>
              <a:t> 웹 서비스</a:t>
            </a:r>
            <a:endParaRPr kumimoji="1" lang="en-US" altLang="ko-KR" sz="1400" b="1" dirty="0"/>
          </a:p>
          <a:p>
            <a:endParaRPr kumimoji="1"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4B7FF5-392D-104E-B58B-2A9996605CF7}"/>
              </a:ext>
            </a:extLst>
          </p:cNvPr>
          <p:cNvSpPr txBox="1"/>
          <p:nvPr/>
        </p:nvSpPr>
        <p:spPr>
          <a:xfrm>
            <a:off x="3414838" y="988649"/>
            <a:ext cx="18373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latin typeface="+mj-lt"/>
              </a:rPr>
              <a:t>사용 기술 및 도구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50C36A-A5F1-4E49-896E-B9F15E53C238}"/>
              </a:ext>
            </a:extLst>
          </p:cNvPr>
          <p:cNvSpPr txBox="1"/>
          <p:nvPr/>
        </p:nvSpPr>
        <p:spPr>
          <a:xfrm>
            <a:off x="3414839" y="1327985"/>
            <a:ext cx="2836033" cy="39857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Lerna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: </a:t>
            </a: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Monorepo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구조</a:t>
            </a: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Eslint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+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Prettier: Coding convention</a:t>
            </a:r>
          </a:p>
          <a:p>
            <a:pPr eaLnBrk="0"/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commitlint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: commit 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메시지 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convention</a:t>
            </a: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Typescript</a:t>
            </a: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Database: MySQL</a:t>
            </a:r>
          </a:p>
          <a:p>
            <a:pPr eaLnBrk="0"/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/>
            <a:r>
              <a:rPr lang="ko-KR" altLang="en-US" sz="1100" b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개발도구</a:t>
            </a:r>
            <a:endParaRPr lang="en-US" altLang="ko-KR" sz="1100" b="1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/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Visual Studio Code</a:t>
            </a:r>
          </a:p>
          <a:p>
            <a:pPr eaLnBrk="0"/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버전 관리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: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git</a:t>
            </a: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/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/>
            <a:r>
              <a:rPr lang="ko-KR" altLang="en-US" sz="1100" b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서버 사용 기술</a:t>
            </a:r>
            <a:endParaRPr lang="en-US" altLang="ko-KR" sz="1100" b="1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/>
            <a:endParaRPr lang="en-US" altLang="ko-KR" sz="1100" b="1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Express</a:t>
            </a: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Sequelize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: </a:t>
            </a: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orm</a:t>
            </a: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/>
            <a:endParaRPr lang="ko-KR" altLang="en-US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A9159A-5ECE-8649-B08E-8F1D2C65C461}"/>
              </a:ext>
            </a:extLst>
          </p:cNvPr>
          <p:cNvSpPr txBox="1"/>
          <p:nvPr/>
        </p:nvSpPr>
        <p:spPr>
          <a:xfrm>
            <a:off x="7065975" y="1327985"/>
            <a:ext cx="1715534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eaLnBrk="0"/>
            <a:r>
              <a:rPr lang="ko-KR" altLang="en-US" sz="1100" b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프론트 사용 기술</a:t>
            </a:r>
            <a:endParaRPr lang="en-US" altLang="ko-KR" sz="1100" b="1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eaLnBrk="0"/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Gatsbyjs</a:t>
            </a: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Mobx</a:t>
            </a: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: </a:t>
            </a:r>
            <a:r>
              <a:rPr lang="ko-KR" altLang="en-US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상태 관리</a:t>
            </a: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Storybook: UI testing</a:t>
            </a: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marL="171450" indent="-171450" eaLnBrk="0">
              <a:buFontTx/>
              <a:buChar char="-"/>
            </a:pPr>
            <a:r>
              <a:rPr lang="en-US" altLang="ko-KR" sz="11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Cypress: E2E test</a:t>
            </a:r>
          </a:p>
          <a:p>
            <a:pPr marL="171450" indent="-171450" eaLnBrk="0">
              <a:buFontTx/>
              <a:buChar char="-"/>
            </a:pPr>
            <a:endParaRPr lang="en-US" altLang="ko-KR" sz="11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48229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783039" y="637423"/>
            <a:ext cx="24033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400" b="1" dirty="0" err="1"/>
              <a:t>키즈</a:t>
            </a:r>
            <a:r>
              <a:rPr kumimoji="1" lang="ko-KR" altLang="en-US" sz="1400" b="1" dirty="0"/>
              <a:t> 카페 </a:t>
            </a:r>
            <a:r>
              <a:rPr kumimoji="1" lang="ko-KR" altLang="en-US" sz="1400" b="1" dirty="0" err="1"/>
              <a:t>점주용</a:t>
            </a:r>
            <a:r>
              <a:rPr kumimoji="1" lang="ko-KR" altLang="en-US" sz="1400" b="1" dirty="0"/>
              <a:t> 웹 서비스</a:t>
            </a:r>
            <a:endParaRPr kumimoji="1" lang="en-US" altLang="ko-KR" sz="1400" b="1" dirty="0"/>
          </a:p>
          <a:p>
            <a:endParaRPr kumimoji="1"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4B7FF5-392D-104E-B58B-2A9996605CF7}"/>
              </a:ext>
            </a:extLst>
          </p:cNvPr>
          <p:cNvSpPr txBox="1"/>
          <p:nvPr/>
        </p:nvSpPr>
        <p:spPr>
          <a:xfrm>
            <a:off x="3414838" y="988649"/>
            <a:ext cx="29280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+mj-lt"/>
              </a:rPr>
              <a:t>Storybook</a:t>
            </a:r>
            <a:r>
              <a:rPr lang="ko-KR" altLang="en-US" sz="1600" b="1" dirty="0">
                <a:latin typeface="+mj-lt"/>
              </a:rPr>
              <a:t> 로그인 페이지 </a:t>
            </a:r>
            <a:r>
              <a:rPr lang="en-US" altLang="ko-KR" sz="1600" b="1" dirty="0">
                <a:latin typeface="+mj-lt"/>
              </a:rPr>
              <a:t>UI </a:t>
            </a:r>
            <a:endParaRPr lang="ko-KR" altLang="en-US" sz="1600" b="1" dirty="0">
              <a:latin typeface="+mj-lt"/>
            </a:endParaRPr>
          </a:p>
        </p:txBody>
      </p:sp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6028D5E1-1173-DA4D-84D3-770B0EF76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4838" y="1760832"/>
            <a:ext cx="8300946" cy="4784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978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8085FF43-4C1F-FA47-9A5D-72F735A38D0E}"/>
              </a:ext>
            </a:extLst>
          </p:cNvPr>
          <p:cNvCxnSpPr/>
          <p:nvPr/>
        </p:nvCxnSpPr>
        <p:spPr>
          <a:xfrm>
            <a:off x="346744" y="1005840"/>
            <a:ext cx="2752506" cy="0"/>
          </a:xfrm>
          <a:prstGeom prst="line">
            <a:avLst/>
          </a:prstGeom>
          <a:ln w="34925">
            <a:solidFill>
              <a:schemeClr val="accent5">
                <a:alpha val="6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D0E6124-74E3-8F48-967E-DADFED2ABDE4}"/>
              </a:ext>
            </a:extLst>
          </p:cNvPr>
          <p:cNvSpPr txBox="1"/>
          <p:nvPr/>
        </p:nvSpPr>
        <p:spPr>
          <a:xfrm>
            <a:off x="783039" y="637423"/>
            <a:ext cx="24033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400" b="1" dirty="0" err="1"/>
              <a:t>키즈</a:t>
            </a:r>
            <a:r>
              <a:rPr kumimoji="1" lang="ko-KR" altLang="en-US" sz="1400" b="1" dirty="0"/>
              <a:t> 카페 </a:t>
            </a:r>
            <a:r>
              <a:rPr kumimoji="1" lang="ko-KR" altLang="en-US" sz="1400" b="1" dirty="0" err="1"/>
              <a:t>점주용</a:t>
            </a:r>
            <a:r>
              <a:rPr kumimoji="1" lang="ko-KR" altLang="en-US" sz="1400" b="1" dirty="0"/>
              <a:t> 웹 서비스</a:t>
            </a:r>
            <a:endParaRPr kumimoji="1" lang="en-US" altLang="ko-KR" sz="1400" b="1" dirty="0"/>
          </a:p>
          <a:p>
            <a:endParaRPr kumimoji="1"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4B7FF5-392D-104E-B58B-2A9996605CF7}"/>
              </a:ext>
            </a:extLst>
          </p:cNvPr>
          <p:cNvSpPr txBox="1"/>
          <p:nvPr/>
        </p:nvSpPr>
        <p:spPr>
          <a:xfrm>
            <a:off x="3414838" y="988649"/>
            <a:ext cx="27227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+mj-lt"/>
              </a:rPr>
              <a:t>Cypress </a:t>
            </a:r>
            <a:r>
              <a:rPr lang="ko-KR" altLang="en-US" sz="1600" b="1" dirty="0">
                <a:latin typeface="+mj-lt"/>
              </a:rPr>
              <a:t>로그인 </a:t>
            </a:r>
            <a:r>
              <a:rPr lang="en-US" altLang="ko-KR" sz="1600" b="1" dirty="0">
                <a:latin typeface="+mj-lt"/>
              </a:rPr>
              <a:t>E2E </a:t>
            </a:r>
            <a:r>
              <a:rPr lang="ko-KR" altLang="en-US" sz="1600" b="1" dirty="0">
                <a:latin typeface="+mj-lt"/>
              </a:rPr>
              <a:t>테스트</a:t>
            </a:r>
          </a:p>
        </p:txBody>
      </p:sp>
      <p:pic>
        <p:nvPicPr>
          <p:cNvPr id="6" name="그림 5" descr="스크린샷, 모니터이(가) 표시된 사진&#10;&#10;자동 생성된 설명">
            <a:extLst>
              <a:ext uri="{FF2B5EF4-FFF2-40B4-BE49-F238E27FC236}">
                <a16:creationId xmlns:a16="http://schemas.microsoft.com/office/drawing/2014/main" id="{0023E56E-4EE2-1444-93F7-972DED019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4839" y="1433995"/>
            <a:ext cx="8300945" cy="511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2153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35A6ADA2-66F6-0F4C-9F59-368ABC42589E}"/>
              </a:ext>
            </a:extLst>
          </p:cNvPr>
          <p:cNvSpPr/>
          <p:nvPr/>
        </p:nvSpPr>
        <p:spPr>
          <a:xfrm>
            <a:off x="346744" y="250849"/>
            <a:ext cx="11369040" cy="62941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9000000" sx="101000" sy="101000" algn="tl" rotWithShape="0">
              <a:prstClr val="black">
                <a:alpha val="1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dirty="0"/>
              <a:t>d</a:t>
            </a:r>
            <a:endParaRPr kumimoji="1" lang="ko-KR" altLang="en-US" dirty="0"/>
          </a:p>
        </p:txBody>
      </p:sp>
      <p:sp>
        <p:nvSpPr>
          <p:cNvPr id="10" name="직사각형 9"/>
          <p:cNvSpPr>
            <a:spLocks/>
          </p:cNvSpPr>
          <p:nvPr/>
        </p:nvSpPr>
        <p:spPr>
          <a:xfrm>
            <a:off x="3414838" y="1298695"/>
            <a:ext cx="4321810" cy="246221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marL="0" indent="0" algn="l" defTabSz="914400" eaLnBrk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Arial"/>
              <a:buChar char="•"/>
            </a:pPr>
            <a:endParaRPr lang="ko-KR" altLang="en-US" sz="1000" b="0" cap="none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pic>
        <p:nvPicPr>
          <p:cNvPr id="1027" name="Picture 3" descr="C:\Users\guy\Downloads\dev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744" y="1142999"/>
            <a:ext cx="7620000" cy="5715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780782" y="975529"/>
            <a:ext cx="27285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/>
              <a:t>감사합니다</a:t>
            </a:r>
            <a:r>
              <a:rPr lang="en-US" altLang="ko-KR" sz="3600" b="1" dirty="0"/>
              <a:t>.</a:t>
            </a:r>
            <a:endParaRPr lang="ko-KR" alt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8601267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858</TotalTime>
  <Words>635</Words>
  <Application>Microsoft Macintosh PowerPoint</Application>
  <PresentationFormat>와이드스크린</PresentationFormat>
  <Paragraphs>162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Malgun Gothic</vt:lpstr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키즈 팩토리</dc:creator>
  <cp:lastModifiedBy>Factory Kids</cp:lastModifiedBy>
  <cp:revision>87</cp:revision>
  <dcterms:created xsi:type="dcterms:W3CDTF">2019-08-07T01:50:27Z</dcterms:created>
  <dcterms:modified xsi:type="dcterms:W3CDTF">2020-03-26T07:18:25Z</dcterms:modified>
</cp:coreProperties>
</file>