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59" r:id="rId4"/>
    <p:sldId id="263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6FF"/>
    <a:srgbClr val="FF8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646"/>
    <p:restoredTop sz="94694"/>
  </p:normalViewPr>
  <p:slideViewPr>
    <p:cSldViewPr snapToGrid="0" snapToObjects="1">
      <p:cViewPr varScale="1">
        <p:scale>
          <a:sx n="116" d="100"/>
          <a:sy n="116" d="100"/>
        </p:scale>
        <p:origin x="-144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F54CC8-9120-D14A-9EA9-377F94575632}" type="datetimeFigureOut">
              <a:rPr kumimoji="1" lang="ko-KR" altLang="en-US" smtClean="0"/>
              <a:t>2019-08-11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789C95-E424-4A42-AC94-93097F51DB9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69293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11BE699-8709-0943-817C-2614DB7A7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21EBDF93-7A39-484D-93AE-5AF332C69E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24A5C30F-A46B-B84A-B085-79E6B6EDC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B7E9B-6309-F84B-A914-311DE2A86A26}" type="datetimeFigureOut">
              <a:rPr kumimoji="1" lang="ko-KR" altLang="en-US" smtClean="0"/>
              <a:t>2019-08-11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17C4DA5E-B9CF-F345-A65A-98BF35D31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BE145BEA-B684-D246-B3D5-3851B0EAC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9313F-1411-664F-BA30-2565811AB8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31614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38D2028-0AA1-8D42-A030-87C87926F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582036E4-F75F-4C4A-90EF-EDF09286E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E70C9B3B-CA5E-3B4C-85DF-9D2781DBD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B7E9B-6309-F84B-A914-311DE2A86A26}" type="datetimeFigureOut">
              <a:rPr kumimoji="1" lang="ko-KR" altLang="en-US" smtClean="0"/>
              <a:t>2019-08-11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0F9851F8-3430-344A-8F90-612D10DDE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F66AC059-34E3-144B-8694-090599874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9313F-1411-664F-BA30-2565811AB8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4352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99C7C23B-7DAC-5E42-89C4-5779B765E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8F0C11CF-4F64-1641-AEA1-5D3ADE4EF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1CC97E7E-B0D6-DF4C-8862-5D61A9A95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B7E9B-6309-F84B-A914-311DE2A86A26}" type="datetimeFigureOut">
              <a:rPr kumimoji="1" lang="ko-KR" altLang="en-US" smtClean="0"/>
              <a:t>2019-08-11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A8F9310F-E40C-A24B-AF03-DB4BE4275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F2E770A0-CC5A-C44A-B4D0-D973E0E3B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9313F-1411-664F-BA30-2565811AB8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52397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69DDBAA-42BA-3D41-B478-9F90671FF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CD5F3654-1B40-6740-B5F8-DF4B815966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9450F3B6-CD3B-A543-9515-D426C6F991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68173915-4FB6-D94A-B48C-305634BCA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B7E9B-6309-F84B-A914-311DE2A86A26}" type="datetimeFigureOut">
              <a:rPr kumimoji="1" lang="ko-KR" altLang="en-US" smtClean="0"/>
              <a:t>2019-08-11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390144CF-9E5B-B14F-BD6D-29CBD321A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E0380A18-8FC8-FD47-9B67-26D5C3AC9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9313F-1411-664F-BA30-2565811AB8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53043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DA3B052-2EE2-5B4C-9C5E-B16D369C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8608AE81-078B-C647-8EBD-3560CEA9B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61A5F56A-A973-5740-B0B2-023ED93E07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66DBE553-C731-7F48-9064-15425F3B8B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6B9A5EAE-7DF8-844E-82C3-FAF955F8BF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9DBBCDA0-43E3-294C-98B5-C6B6FEA83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B7E9B-6309-F84B-A914-311DE2A86A26}" type="datetimeFigureOut">
              <a:rPr kumimoji="1" lang="ko-KR" altLang="en-US" smtClean="0"/>
              <a:t>2019-08-11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858AE441-6356-3A43-B348-83B0A341A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A785101D-B903-0046-89F0-F2BCFEF6A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9313F-1411-664F-BA30-2565811AB8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29881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887A8E4-44F5-3548-9FFE-0235CB1B0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BFDB5F48-DD0B-D340-B738-D9EEA1A72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B7E9B-6309-F84B-A914-311DE2A86A26}" type="datetimeFigureOut">
              <a:rPr kumimoji="1" lang="ko-KR" altLang="en-US" smtClean="0"/>
              <a:t>2019-08-11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45943705-ED7E-3A40-9D38-91089051A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1061F0B2-9143-0344-B89D-CF272C8A6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9313F-1411-664F-BA30-2565811AB8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13906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093F10E3-6DA1-8040-BAA1-2A4A24E50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B7E9B-6309-F84B-A914-311DE2A86A26}" type="datetimeFigureOut">
              <a:rPr kumimoji="1" lang="ko-KR" altLang="en-US" smtClean="0"/>
              <a:t>2019-08-11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512A67C8-77FD-6646-9E33-B021614ED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8E7C4240-8066-B74D-90BC-5FD6218F9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9313F-1411-664F-BA30-2565811AB8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34372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F45D1CF-0A20-594C-807E-80434A7F6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16ED2006-411C-7344-9F9D-A503A7342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13E21E58-C9AA-794C-ABED-0C40B7C2F1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A2692680-87C3-F848-B8FF-1385DF2A8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B7E9B-6309-F84B-A914-311DE2A86A26}" type="datetimeFigureOut">
              <a:rPr kumimoji="1" lang="ko-KR" altLang="en-US" smtClean="0"/>
              <a:t>2019-08-11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F2D2A757-518B-DC43-9538-503AEFD39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447C0F28-9286-D547-B349-6EC2EF955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9313F-1411-664F-BA30-2565811AB8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65333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26FD283-9B75-9F4D-BC20-35CACCA82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B100F260-42DB-BF4D-9B45-A068D7A5BE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74CB071D-922F-034F-89AB-886313D637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44781B89-20BA-8449-AF3C-912ACD936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B7E9B-6309-F84B-A914-311DE2A86A26}" type="datetimeFigureOut">
              <a:rPr kumimoji="1" lang="ko-KR" altLang="en-US" smtClean="0"/>
              <a:t>2019-08-11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B44477A6-467D-4A4A-A80E-222368441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000078E4-12F4-324D-B97C-7CE08A063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9313F-1411-664F-BA30-2565811AB8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55737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A18CAC1C-A5B6-BF42-8936-FE65A5C71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CB74D280-29F8-B548-A7D2-450EBE2D64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5958E3E-08EB-B840-B5B0-54BB34F35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B7E9B-6309-F84B-A914-311DE2A86A26}" type="datetimeFigureOut">
              <a:rPr kumimoji="1" lang="ko-KR" altLang="en-US" smtClean="0"/>
              <a:t>2019-08-11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646AF392-CB42-7646-BFCD-9048EEFA7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29089722-511F-694E-959B-158D81D18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9313F-1411-664F-BA30-2565811AB8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25909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4FEACA66-DD47-704D-9ABE-B4F4A11426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A6455E95-2E68-7D44-978F-B376263A87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B2D4B090-6279-AC44-AFA2-8FD38526C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B7E9B-6309-F84B-A914-311DE2A86A26}" type="datetimeFigureOut">
              <a:rPr kumimoji="1" lang="ko-KR" altLang="en-US" smtClean="0"/>
              <a:t>2019-08-11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A5873BF3-C21E-854F-A8CB-052A21063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48662422-C9E0-1B47-B0E0-E25CF7DA7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9313F-1411-664F-BA30-2565811AB8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19980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2F41020B-60D2-3444-BF84-296E55AB6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32A25B5E-2D83-4E4B-B330-C499A19C85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E2FAC2CA-5DBD-2842-ACF6-36DEB67C31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B7E9B-6309-F84B-A914-311DE2A86A26}" type="datetimeFigureOut">
              <a:rPr kumimoji="1" lang="ko-KR" altLang="en-US" smtClean="0"/>
              <a:t>2019-08-11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6966D0FA-531D-4749-9741-60F67703EE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95A5E467-0672-4540-9373-1E93842B84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79313F-1411-664F-BA30-2565811AB8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11605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bitbucket.org/Guyclops/handamclient/src/master/" TargetMode="External"/><Relationship Id="rId2" Type="http://schemas.openxmlformats.org/officeDocument/2006/relationships/hyperlink" Target="https://github.com/Guyclops/RemoteProject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youtu.be/UQOiB6lzQzw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Guyclops/RemoteProject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35A6ADA2-66F6-0F4C-9F59-368ABC42589E}"/>
              </a:ext>
            </a:extLst>
          </p:cNvPr>
          <p:cNvSpPr/>
          <p:nvPr/>
        </p:nvSpPr>
        <p:spPr>
          <a:xfrm>
            <a:off x="411480" y="289560"/>
            <a:ext cx="11369040" cy="6294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9000000" sx="101000" sy="101000" algn="tl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DC3E3DE-816F-B844-B58D-5F2D4F3FCEC4}"/>
              </a:ext>
            </a:extLst>
          </p:cNvPr>
          <p:cNvSpPr txBox="1"/>
          <p:nvPr/>
        </p:nvSpPr>
        <p:spPr>
          <a:xfrm>
            <a:off x="1225296" y="1202525"/>
            <a:ext cx="9528048" cy="51111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3600" b="1" spc="300" dirty="0"/>
              <a:t>SHIN JUNTAE</a:t>
            </a:r>
          </a:p>
          <a:p>
            <a:r>
              <a:rPr kumimoji="1" lang="en-US" altLang="ko-KR" sz="3600" b="1" spc="300" dirty="0"/>
              <a:t>PORTPOLIO</a:t>
            </a:r>
          </a:p>
          <a:p>
            <a:endParaRPr kumimoji="1" lang="en-US" altLang="ko-KR" sz="3600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endParaRPr kumimoji="1" lang="en-US" altLang="ko-KR" sz="3600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endParaRPr kumimoji="1" lang="en-US" altLang="ko-KR" sz="3600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eaLnBrk="0">
              <a:lnSpc>
                <a:spcPct val="150000"/>
              </a:lnSpc>
            </a:pPr>
            <a:r>
              <a:rPr lang="en-US" altLang="ko-KR" sz="2000" b="0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Address : </a:t>
            </a:r>
            <a:r>
              <a:rPr lang="en-US" altLang="ko-KR" sz="2000" b="0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서울시</a:t>
            </a:r>
            <a:r>
              <a:rPr lang="en-US" altLang="ko-KR" sz="2000" b="0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2000" b="0" cap="non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관악구</a:t>
            </a:r>
            <a:r>
              <a:rPr lang="en-US" altLang="ko-KR" sz="2000" b="0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봉천로23바길 12, 201호</a:t>
            </a:r>
            <a:endParaRPr lang="ko-KR" altLang="en-US" sz="2000" b="0" cap="none" dirty="0">
              <a:solidFill>
                <a:schemeClr val="tx1">
                  <a:lumMod val="50000"/>
                  <a:lumOff val="50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eaLnBrk="0">
              <a:lnSpc>
                <a:spcPct val="150000"/>
              </a:lnSpc>
            </a:pPr>
            <a:r>
              <a:rPr lang="en-US" altLang="ko-KR" sz="2000" b="0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Email : wnsxo0816@gmail.com</a:t>
            </a:r>
            <a:endParaRPr lang="ko-KR" altLang="en-US" sz="2000" b="0" cap="none" dirty="0">
              <a:solidFill>
                <a:schemeClr val="tx1">
                  <a:lumMod val="50000"/>
                  <a:lumOff val="50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eaLnBrk="0">
              <a:lnSpc>
                <a:spcPct val="150000"/>
              </a:lnSpc>
            </a:pPr>
            <a:r>
              <a:rPr lang="en-US" altLang="ko-KR" sz="2000" b="0" cap="none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Phone : 010-3950-3332</a:t>
            </a:r>
          </a:p>
          <a:p>
            <a:pPr eaLnBrk="0">
              <a:lnSpc>
                <a:spcPct val="150000"/>
              </a:lnSpc>
            </a:pPr>
            <a:r>
              <a:rPr lang="en-US" altLang="ko-KR" sz="2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Github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: https://</a:t>
            </a:r>
            <a:r>
              <a:rPr lang="en-US" altLang="ko-KR" sz="2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github.com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/</a:t>
            </a:r>
            <a:r>
              <a:rPr lang="en-US" altLang="ko-KR" sz="2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Guyclops</a:t>
            </a:r>
            <a:endParaRPr lang="en-US" altLang="ko-KR" sz="2000" dirty="0">
              <a:solidFill>
                <a:schemeClr val="tx1">
                  <a:lumMod val="50000"/>
                  <a:lumOff val="50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eaLnBrk="0">
              <a:lnSpc>
                <a:spcPct val="150000"/>
              </a:lnSpc>
            </a:pP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Bitbucket: https://</a:t>
            </a:r>
            <a:r>
              <a:rPr lang="en-US" altLang="ko-KR" sz="2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bitbucket.org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/</a:t>
            </a:r>
            <a:r>
              <a:rPr lang="en-US" altLang="ko-KR" sz="2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Guyclops</a:t>
            </a:r>
            <a:endParaRPr lang="ko-KR" altLang="en-US" sz="2000" b="0" cap="none" dirty="0">
              <a:solidFill>
                <a:schemeClr val="tx1">
                  <a:lumMod val="50000"/>
                  <a:lumOff val="50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4443259C-3635-5546-B8C1-CD3D2B6BF815}"/>
              </a:ext>
            </a:extLst>
          </p:cNvPr>
          <p:cNvSpPr/>
          <p:nvPr/>
        </p:nvSpPr>
        <p:spPr>
          <a:xfrm>
            <a:off x="10991088" y="289560"/>
            <a:ext cx="789432" cy="6294120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56000"/>
                  <a:lumMod val="79000"/>
                </a:schemeClr>
              </a:gs>
              <a:gs pos="100000">
                <a:srgbClr val="0096FF">
                  <a:alpha val="34118"/>
                </a:srgb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xmlns="" id="{E4EC04B1-6350-7943-9EAC-630AAFA52EE8}"/>
              </a:ext>
            </a:extLst>
          </p:cNvPr>
          <p:cNvCxnSpPr>
            <a:cxnSpLocks/>
          </p:cNvCxnSpPr>
          <p:nvPr/>
        </p:nvCxnSpPr>
        <p:spPr>
          <a:xfrm>
            <a:off x="1371600" y="2596896"/>
            <a:ext cx="0" cy="1243584"/>
          </a:xfrm>
          <a:prstGeom prst="line">
            <a:avLst/>
          </a:prstGeom>
          <a:ln w="25400">
            <a:solidFill>
              <a:schemeClr val="accent5">
                <a:alpha val="6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188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35A6ADA2-66F6-0F4C-9F59-368ABC42589E}"/>
              </a:ext>
            </a:extLst>
          </p:cNvPr>
          <p:cNvSpPr/>
          <p:nvPr/>
        </p:nvSpPr>
        <p:spPr>
          <a:xfrm>
            <a:off x="346744" y="248766"/>
            <a:ext cx="11369040" cy="6294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9000000" sx="101000" sy="101000" algn="tl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smtClean="0"/>
              <a:t>d</a:t>
            </a:r>
            <a:endParaRPr kumimoji="1" lang="ko-KR" altLang="en-US" dirty="0"/>
          </a:p>
        </p:txBody>
      </p:sp>
      <p:cxnSp>
        <p:nvCxnSpPr>
          <p:cNvPr id="3" name="직선 연결선[R] 2">
            <a:extLst>
              <a:ext uri="{FF2B5EF4-FFF2-40B4-BE49-F238E27FC236}">
                <a16:creationId xmlns:a16="http://schemas.microsoft.com/office/drawing/2014/main" xmlns="" id="{8085FF43-4C1F-FA47-9A5D-72F735A38D0E}"/>
              </a:ext>
            </a:extLst>
          </p:cNvPr>
          <p:cNvCxnSpPr/>
          <p:nvPr/>
        </p:nvCxnSpPr>
        <p:spPr>
          <a:xfrm>
            <a:off x="1225296" y="1005840"/>
            <a:ext cx="9765792" cy="0"/>
          </a:xfrm>
          <a:prstGeom prst="line">
            <a:avLst/>
          </a:prstGeom>
          <a:ln w="34925">
            <a:solidFill>
              <a:schemeClr val="accent5">
                <a:alpha val="6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[R] 5">
            <a:extLst>
              <a:ext uri="{FF2B5EF4-FFF2-40B4-BE49-F238E27FC236}">
                <a16:creationId xmlns:a16="http://schemas.microsoft.com/office/drawing/2014/main" xmlns="" id="{0D46100D-83BB-0441-96DC-1E7C8A5BE374}"/>
              </a:ext>
            </a:extLst>
          </p:cNvPr>
          <p:cNvCxnSpPr>
            <a:cxnSpLocks/>
          </p:cNvCxnSpPr>
          <p:nvPr/>
        </p:nvCxnSpPr>
        <p:spPr>
          <a:xfrm>
            <a:off x="3841018" y="2205904"/>
            <a:ext cx="0" cy="3416323"/>
          </a:xfrm>
          <a:prstGeom prst="line">
            <a:avLst/>
          </a:prstGeom>
          <a:ln w="25400">
            <a:solidFill>
              <a:schemeClr val="accent5">
                <a:alpha val="6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B7F3DC2A-2548-7A43-8F6E-379E9BF3E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788" y="2205904"/>
            <a:ext cx="1335023" cy="15873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BD0E6124-74E3-8F48-967E-DADFED2ABDE4}"/>
              </a:ext>
            </a:extLst>
          </p:cNvPr>
          <p:cNvSpPr txBox="1"/>
          <p:nvPr/>
        </p:nvSpPr>
        <p:spPr>
          <a:xfrm>
            <a:off x="1204064" y="1746873"/>
            <a:ext cx="1755647" cy="374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PROFILE</a:t>
            </a:r>
            <a:endParaRPr kumimoji="1"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8D027429-78CF-304E-8ED4-E472BE05216D}"/>
              </a:ext>
            </a:extLst>
          </p:cNvPr>
          <p:cNvSpPr txBox="1"/>
          <p:nvPr/>
        </p:nvSpPr>
        <p:spPr>
          <a:xfrm>
            <a:off x="1204064" y="3877425"/>
            <a:ext cx="19538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600" spc="-15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SHIN JUNTAE / </a:t>
            </a:r>
            <a:r>
              <a:rPr kumimoji="1" lang="ko-KR" altLang="en-US" sz="1600" spc="-15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신준태</a:t>
            </a:r>
            <a:endParaRPr kumimoji="1" lang="ko-KR" altLang="en-US" sz="1600" spc="-15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66F9396-C2DE-1F44-AB6E-9CDD36408684}"/>
              </a:ext>
            </a:extLst>
          </p:cNvPr>
          <p:cNvSpPr txBox="1"/>
          <p:nvPr/>
        </p:nvSpPr>
        <p:spPr>
          <a:xfrm>
            <a:off x="1603249" y="4759565"/>
            <a:ext cx="13564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600" spc="-1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010-3950-3332</a:t>
            </a:r>
            <a:endParaRPr kumimoji="1" lang="ko-KR" altLang="en-US" sz="1600" spc="-1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xmlns="" id="{B1DA7F4C-70F2-3845-877B-80EF93433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9" y="5622227"/>
            <a:ext cx="304800" cy="3048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989C4654-C991-4447-A233-0AC64866A9A0}"/>
              </a:ext>
            </a:extLst>
          </p:cNvPr>
          <p:cNvSpPr txBox="1"/>
          <p:nvPr/>
        </p:nvSpPr>
        <p:spPr>
          <a:xfrm>
            <a:off x="1603249" y="5602744"/>
            <a:ext cx="8776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600" spc="-15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Guyclops</a:t>
            </a:r>
            <a:endParaRPr kumimoji="1" lang="ko-KR" altLang="en-US" sz="1600" spc="-1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xmlns="" id="{F9F5FA93-E094-BD40-97DA-42305A68C8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9" y="4776442"/>
            <a:ext cx="304800" cy="30480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xmlns="" id="{9ADB3BDA-060E-F445-8175-332930CA42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7249" y="5207173"/>
            <a:ext cx="306000" cy="3060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2E8DC5C3-BD79-1E4B-B575-7FB87D6E6085}"/>
              </a:ext>
            </a:extLst>
          </p:cNvPr>
          <p:cNvSpPr txBox="1"/>
          <p:nvPr/>
        </p:nvSpPr>
        <p:spPr>
          <a:xfrm>
            <a:off x="1603249" y="5187690"/>
            <a:ext cx="20119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600" spc="-1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wnsxo0816@gmail.com</a:t>
            </a:r>
            <a:endParaRPr kumimoji="1" lang="ko-KR" altLang="en-US" sz="1600" spc="-1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xmlns="" id="{543E7198-A28D-4D41-86B0-48C31EC4CA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7249" y="4358787"/>
            <a:ext cx="306000" cy="3060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0E6A1376-6D42-EF49-8C43-F43C9237F3E2}"/>
              </a:ext>
            </a:extLst>
          </p:cNvPr>
          <p:cNvSpPr txBox="1"/>
          <p:nvPr/>
        </p:nvSpPr>
        <p:spPr>
          <a:xfrm>
            <a:off x="1627351" y="4344511"/>
            <a:ext cx="9925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600" spc="-1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1992.08.16</a:t>
            </a:r>
            <a:endParaRPr kumimoji="1" lang="ko-KR" altLang="en-US" sz="1600" spc="-1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C78FC71B-3473-0340-A49E-80A68AF8457B}"/>
              </a:ext>
            </a:extLst>
          </p:cNvPr>
          <p:cNvSpPr txBox="1"/>
          <p:nvPr/>
        </p:nvSpPr>
        <p:spPr>
          <a:xfrm>
            <a:off x="4431895" y="2121777"/>
            <a:ext cx="2838651" cy="1398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400" dirty="0"/>
              <a:t>•</a:t>
            </a:r>
            <a:r>
              <a:rPr kumimoji="1" lang="ko-KR" altLang="en-US" sz="1400" dirty="0"/>
              <a:t> 학력</a:t>
            </a:r>
            <a:endParaRPr kumimoji="1" lang="en-US" altLang="ko-KR" sz="1400" dirty="0"/>
          </a:p>
          <a:p>
            <a:pPr>
              <a:lnSpc>
                <a:spcPct val="150000"/>
              </a:lnSpc>
            </a:pPr>
            <a:r>
              <a:rPr kumimoji="1"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•</a:t>
            </a:r>
            <a:r>
              <a:rPr kumimoji="1"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2008.03</a:t>
            </a:r>
            <a:r>
              <a:rPr kumimoji="1"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당곡고등학교 입학</a:t>
            </a:r>
            <a:endParaRPr kumimoji="1" lang="en-US" altLang="ko-KR" sz="1100" dirty="0">
              <a:solidFill>
                <a:schemeClr val="tx1">
                  <a:lumMod val="50000"/>
                  <a:lumOff val="50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•</a:t>
            </a:r>
            <a:r>
              <a:rPr kumimoji="1"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2011.02</a:t>
            </a:r>
            <a:r>
              <a:rPr kumimoji="1"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당곡고등학교 졸업</a:t>
            </a:r>
            <a:endParaRPr kumimoji="1" lang="en-US" altLang="ko-KR" sz="1100" dirty="0">
              <a:solidFill>
                <a:schemeClr val="tx1">
                  <a:lumMod val="50000"/>
                  <a:lumOff val="50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•</a:t>
            </a:r>
            <a:r>
              <a:rPr kumimoji="1"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2011.03</a:t>
            </a:r>
            <a:r>
              <a:rPr kumimoji="1"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숭실대학교 컴퓨터 학부 입학</a:t>
            </a:r>
            <a:endParaRPr kumimoji="1" lang="en-US" altLang="ko-KR" sz="1100" dirty="0">
              <a:solidFill>
                <a:schemeClr val="tx1">
                  <a:lumMod val="50000"/>
                  <a:lumOff val="50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•</a:t>
            </a:r>
            <a:r>
              <a:rPr kumimoji="1"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2017.02</a:t>
            </a:r>
            <a:r>
              <a:rPr kumimoji="1"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숭실대학교 졸업 </a:t>
            </a:r>
            <a:r>
              <a:rPr kumimoji="1"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(3.64/4.5</a:t>
            </a:r>
            <a:r>
              <a:rPr kumimoji="1"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학점</a:t>
            </a:r>
            <a:r>
              <a:rPr kumimoji="1"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)</a:t>
            </a:r>
            <a:endParaRPr kumimoji="1" lang="ko-KR" altLang="en-US" sz="1100" dirty="0">
              <a:solidFill>
                <a:schemeClr val="tx1">
                  <a:lumMod val="50000"/>
                  <a:lumOff val="50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2DB23D14-C552-264E-B74C-8C634CEAD27F}"/>
              </a:ext>
            </a:extLst>
          </p:cNvPr>
          <p:cNvSpPr txBox="1"/>
          <p:nvPr/>
        </p:nvSpPr>
        <p:spPr>
          <a:xfrm>
            <a:off x="4431895" y="3789294"/>
            <a:ext cx="3501868" cy="1398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400" dirty="0"/>
              <a:t>•</a:t>
            </a:r>
            <a:r>
              <a:rPr kumimoji="1" lang="ko-KR" altLang="en-US" sz="1400" dirty="0"/>
              <a:t> 경력사항</a:t>
            </a:r>
            <a:endParaRPr kumimoji="1" lang="en-US" altLang="ko-KR" sz="1400" dirty="0"/>
          </a:p>
          <a:p>
            <a:pPr>
              <a:lnSpc>
                <a:spcPct val="150000"/>
              </a:lnSpc>
            </a:pPr>
            <a:r>
              <a:rPr kumimoji="1"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•</a:t>
            </a:r>
            <a:r>
              <a:rPr kumimoji="1"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2017.01~2017.04</a:t>
            </a:r>
            <a:r>
              <a:rPr kumimoji="1"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 </a:t>
            </a:r>
            <a:r>
              <a:rPr kumimoji="1" lang="ko-KR" alt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화인스택</a:t>
            </a:r>
            <a:endParaRPr kumimoji="1" lang="en-US" altLang="ko-KR" sz="1100" dirty="0">
              <a:solidFill>
                <a:schemeClr val="tx1">
                  <a:lumMod val="50000"/>
                  <a:lumOff val="50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	</a:t>
            </a:r>
            <a:r>
              <a:rPr kumimoji="1"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       기술지원 엔지니어</a:t>
            </a:r>
            <a:endParaRPr kumimoji="1" lang="en-US" altLang="ko-KR" sz="1100" dirty="0">
              <a:solidFill>
                <a:schemeClr val="tx1">
                  <a:lumMod val="50000"/>
                  <a:lumOff val="50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•</a:t>
            </a:r>
            <a:r>
              <a:rPr kumimoji="1"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2018.02~</a:t>
            </a:r>
            <a:r>
              <a:rPr kumimoji="1"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현재       </a:t>
            </a:r>
            <a:r>
              <a:rPr kumimoji="1" lang="ko-KR" alt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키즈팩토리</a:t>
            </a:r>
            <a:endParaRPr kumimoji="1" lang="en-US" altLang="ko-KR" sz="1100" dirty="0">
              <a:solidFill>
                <a:schemeClr val="tx1">
                  <a:lumMod val="50000"/>
                  <a:lumOff val="50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	</a:t>
            </a:r>
            <a:r>
              <a:rPr kumimoji="1"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       </a:t>
            </a:r>
            <a:r>
              <a:rPr kumimoji="1" lang="ko-KR" alt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풀스택</a:t>
            </a:r>
            <a:r>
              <a:rPr kumimoji="1"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개발자</a:t>
            </a:r>
            <a:endParaRPr kumimoji="1" lang="en-US" altLang="ko-KR" sz="1100" dirty="0">
              <a:solidFill>
                <a:schemeClr val="tx1">
                  <a:lumMod val="50000"/>
                  <a:lumOff val="50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C78FC71B-3473-0340-A49E-80A68AF8457B}"/>
              </a:ext>
            </a:extLst>
          </p:cNvPr>
          <p:cNvSpPr txBox="1"/>
          <p:nvPr/>
        </p:nvSpPr>
        <p:spPr>
          <a:xfrm>
            <a:off x="7270546" y="2115349"/>
            <a:ext cx="3720542" cy="1685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400" dirty="0"/>
              <a:t>•</a:t>
            </a:r>
            <a:r>
              <a:rPr kumimoji="1" lang="ko-KR" altLang="en-US" sz="1400" dirty="0"/>
              <a:t> </a:t>
            </a:r>
            <a:r>
              <a:rPr kumimoji="1" lang="ko-KR" altLang="en-US" sz="1400" dirty="0" smtClean="0"/>
              <a:t>기술 </a:t>
            </a:r>
            <a:r>
              <a:rPr kumimoji="1" lang="ko-KR" altLang="en-US" sz="1400" dirty="0" err="1" smtClean="0"/>
              <a:t>스택</a:t>
            </a:r>
            <a:endParaRPr kumimoji="1" lang="en-US" altLang="ko-KR" sz="1400" dirty="0" smtClean="0"/>
          </a:p>
          <a:p>
            <a:pPr>
              <a:lnSpc>
                <a:spcPct val="150000"/>
              </a:lnSpc>
            </a:pPr>
            <a:r>
              <a:rPr kumimoji="1"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•</a:t>
            </a:r>
            <a:r>
              <a:rPr kumimoji="1"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ko-KR" alt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협업</a:t>
            </a:r>
            <a:r>
              <a:rPr kumimoji="1" lang="en-US" altLang="ko-KR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: Slack, </a:t>
            </a:r>
            <a:r>
              <a:rPr kumimoji="1" lang="en-US" altLang="ko-KR" sz="11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Github</a:t>
            </a:r>
            <a:r>
              <a:rPr kumimoji="1" lang="en-US" altLang="ko-KR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, </a:t>
            </a:r>
            <a:r>
              <a:rPr kumimoji="1" lang="en-US" altLang="ko-KR" sz="11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Bitbucket</a:t>
            </a:r>
            <a:r>
              <a:rPr kumimoji="1" lang="en-US" altLang="ko-KR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, </a:t>
            </a:r>
            <a:r>
              <a:rPr kumimoji="1" lang="en-US" altLang="ko-KR" sz="11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Zeplin</a:t>
            </a:r>
            <a:r>
              <a:rPr kumimoji="1" lang="en-US" altLang="ko-KR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, </a:t>
            </a:r>
            <a:r>
              <a:rPr kumimoji="1" lang="en-US" altLang="ko-KR" sz="11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Trello</a:t>
            </a:r>
            <a:endParaRPr kumimoji="1" lang="en-US" altLang="ko-KR" sz="1100" dirty="0">
              <a:solidFill>
                <a:schemeClr val="tx1">
                  <a:lumMod val="50000"/>
                  <a:lumOff val="50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•</a:t>
            </a:r>
            <a:r>
              <a:rPr kumimoji="1"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ko-KR" alt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배포</a:t>
            </a:r>
            <a:r>
              <a:rPr kumimoji="1" lang="en-US" altLang="ko-KR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: Amazon AWS</a:t>
            </a:r>
            <a:endParaRPr kumimoji="1" lang="en-US" altLang="ko-KR" sz="1100" dirty="0">
              <a:solidFill>
                <a:schemeClr val="tx1">
                  <a:lumMod val="50000"/>
                  <a:lumOff val="50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• </a:t>
            </a:r>
            <a:r>
              <a:rPr kumimoji="1" lang="ko-KR" alt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개발도구</a:t>
            </a:r>
            <a:r>
              <a:rPr kumimoji="1" lang="en-US" altLang="ko-KR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: Atom, Visual Studio Code, </a:t>
            </a:r>
            <a:r>
              <a:rPr kumimoji="1" lang="en-US" altLang="ko-KR" sz="11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Webstorm</a:t>
            </a:r>
            <a:endParaRPr kumimoji="1" lang="en-US" altLang="ko-KR" sz="1100" dirty="0" smtClean="0">
              <a:solidFill>
                <a:schemeClr val="tx1">
                  <a:lumMod val="50000"/>
                  <a:lumOff val="50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•</a:t>
            </a:r>
            <a:r>
              <a:rPr kumimoji="1"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ko-KR" alt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개발언어 등</a:t>
            </a:r>
            <a:r>
              <a:rPr kumimoji="1" lang="en-US" altLang="ko-KR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: </a:t>
            </a:r>
            <a:r>
              <a:rPr kumimoji="1" lang="en-US" altLang="ko-KR" sz="11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Javascript</a:t>
            </a:r>
            <a:r>
              <a:rPr kumimoji="1" lang="en-US" altLang="ko-KR" sz="11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, Amazon RDS for MySQL, Amazon S3, React, React Native, Node.js, Express.js</a:t>
            </a:r>
            <a:endParaRPr kumimoji="1" lang="en-US" altLang="ko-KR" sz="1100" dirty="0">
              <a:solidFill>
                <a:schemeClr val="tx1">
                  <a:lumMod val="50000"/>
                  <a:lumOff val="50000"/>
                </a:schemeClr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9692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35A6ADA2-66F6-0F4C-9F59-368ABC42589E}"/>
              </a:ext>
            </a:extLst>
          </p:cNvPr>
          <p:cNvSpPr/>
          <p:nvPr/>
        </p:nvSpPr>
        <p:spPr>
          <a:xfrm>
            <a:off x="346744" y="250849"/>
            <a:ext cx="11369040" cy="6294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9000000" sx="101000" sy="101000" algn="tl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smtClean="0"/>
              <a:t>d</a:t>
            </a:r>
            <a:endParaRPr kumimoji="1" lang="ko-KR" altLang="en-US" dirty="0"/>
          </a:p>
        </p:txBody>
      </p:sp>
      <p:cxnSp>
        <p:nvCxnSpPr>
          <p:cNvPr id="3" name="직선 연결선[R] 2">
            <a:extLst>
              <a:ext uri="{FF2B5EF4-FFF2-40B4-BE49-F238E27FC236}">
                <a16:creationId xmlns:a16="http://schemas.microsoft.com/office/drawing/2014/main" xmlns="" id="{8085FF43-4C1F-FA47-9A5D-72F735A38D0E}"/>
              </a:ext>
            </a:extLst>
          </p:cNvPr>
          <p:cNvCxnSpPr/>
          <p:nvPr/>
        </p:nvCxnSpPr>
        <p:spPr>
          <a:xfrm>
            <a:off x="346744" y="1005840"/>
            <a:ext cx="2752506" cy="0"/>
          </a:xfrm>
          <a:prstGeom prst="line">
            <a:avLst/>
          </a:prstGeom>
          <a:ln w="34925">
            <a:solidFill>
              <a:schemeClr val="accent5">
                <a:alpha val="6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BD0E6124-74E3-8F48-967E-DADFED2ABDE4}"/>
              </a:ext>
            </a:extLst>
          </p:cNvPr>
          <p:cNvSpPr txBox="1"/>
          <p:nvPr/>
        </p:nvSpPr>
        <p:spPr>
          <a:xfrm>
            <a:off x="2221426" y="613745"/>
            <a:ext cx="1755647" cy="374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smtClean="0"/>
              <a:t>Project</a:t>
            </a:r>
            <a:endParaRPr kumimoji="1"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C78FC71B-3473-0340-A49E-80A68AF8457B}"/>
              </a:ext>
            </a:extLst>
          </p:cNvPr>
          <p:cNvSpPr txBox="1"/>
          <p:nvPr/>
        </p:nvSpPr>
        <p:spPr>
          <a:xfrm>
            <a:off x="2221426" y="2129869"/>
            <a:ext cx="5296075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dirty="0"/>
              <a:t>•</a:t>
            </a:r>
            <a:r>
              <a:rPr kumimoji="1" lang="ko-KR" altLang="en-US" dirty="0"/>
              <a:t> </a:t>
            </a:r>
            <a:r>
              <a:rPr kumimoji="1" lang="ko-KR" altLang="en-US" dirty="0" smtClean="0"/>
              <a:t>한담 </a:t>
            </a:r>
            <a:r>
              <a:rPr kumimoji="1" lang="en-US" altLang="ko-KR" dirty="0" smtClean="0"/>
              <a:t>– </a:t>
            </a:r>
            <a:r>
              <a:rPr kumimoji="1" lang="ko-KR" altLang="en-US" dirty="0" smtClean="0"/>
              <a:t>한성대 강의평가 서비스</a:t>
            </a:r>
            <a:endParaRPr kumimoji="1" lang="en-US" altLang="ko-KR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C78FC71B-3473-0340-A49E-80A68AF8457B}"/>
              </a:ext>
            </a:extLst>
          </p:cNvPr>
          <p:cNvSpPr txBox="1"/>
          <p:nvPr/>
        </p:nvSpPr>
        <p:spPr>
          <a:xfrm>
            <a:off x="2221426" y="3382040"/>
            <a:ext cx="5296075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dirty="0"/>
              <a:t>•</a:t>
            </a:r>
            <a:r>
              <a:rPr kumimoji="1" lang="ko-KR" altLang="en-US" dirty="0"/>
              <a:t> </a:t>
            </a:r>
            <a:r>
              <a:rPr kumimoji="1" lang="en-US" altLang="ko-KR" dirty="0" err="1" smtClean="0"/>
              <a:t>RemoteProject</a:t>
            </a:r>
            <a:r>
              <a:rPr kumimoji="1" lang="en-US" altLang="ko-KR" dirty="0" smtClean="0"/>
              <a:t> – </a:t>
            </a:r>
            <a:r>
              <a:rPr kumimoji="1" lang="ko-KR" altLang="en-US" dirty="0" smtClean="0"/>
              <a:t>원격제어 프로그램</a:t>
            </a:r>
            <a:endParaRPr kumimoji="1" lang="en-US" altLang="ko-KR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C78FC71B-3473-0340-A49E-80A68AF8457B}"/>
              </a:ext>
            </a:extLst>
          </p:cNvPr>
          <p:cNvSpPr txBox="1"/>
          <p:nvPr/>
        </p:nvSpPr>
        <p:spPr>
          <a:xfrm>
            <a:off x="2221426" y="4745898"/>
            <a:ext cx="5296075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dirty="0" smtClean="0"/>
              <a:t>•</a:t>
            </a:r>
            <a:r>
              <a:rPr kumimoji="1" lang="ko-KR" altLang="en-US" dirty="0" smtClean="0"/>
              <a:t> </a:t>
            </a:r>
            <a:r>
              <a:rPr kumimoji="1" lang="en-US" altLang="ko-KR" dirty="0" smtClean="0"/>
              <a:t>Observer</a:t>
            </a:r>
            <a:r>
              <a:rPr kumimoji="1" lang="ko-KR" altLang="en-US" dirty="0" smtClean="0"/>
              <a:t> </a:t>
            </a:r>
            <a:r>
              <a:rPr kumimoji="1" lang="en-US" altLang="ko-KR" dirty="0" smtClean="0"/>
              <a:t>– </a:t>
            </a:r>
            <a:r>
              <a:rPr kumimoji="1" lang="ko-KR" altLang="en-US" dirty="0" smtClean="0"/>
              <a:t>공유 </a:t>
            </a:r>
            <a:r>
              <a:rPr kumimoji="1" lang="ko-KR" altLang="en-US" dirty="0" err="1" smtClean="0"/>
              <a:t>디렉토리</a:t>
            </a:r>
            <a:r>
              <a:rPr kumimoji="1" lang="ko-KR" altLang="en-US" dirty="0" smtClean="0"/>
              <a:t> 로그 기록 프로그램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13140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35A6ADA2-66F6-0F4C-9F59-368ABC42589E}"/>
              </a:ext>
            </a:extLst>
          </p:cNvPr>
          <p:cNvSpPr/>
          <p:nvPr/>
        </p:nvSpPr>
        <p:spPr>
          <a:xfrm>
            <a:off x="346744" y="250849"/>
            <a:ext cx="11369040" cy="6294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9000000" sx="101000" sy="101000" algn="tl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smtClean="0"/>
              <a:t>d</a:t>
            </a:r>
            <a:endParaRPr kumimoji="1" lang="ko-KR" altLang="en-US" dirty="0"/>
          </a:p>
        </p:txBody>
      </p:sp>
      <p:cxnSp>
        <p:nvCxnSpPr>
          <p:cNvPr id="3" name="직선 연결선[R] 2">
            <a:extLst>
              <a:ext uri="{FF2B5EF4-FFF2-40B4-BE49-F238E27FC236}">
                <a16:creationId xmlns:a16="http://schemas.microsoft.com/office/drawing/2014/main" xmlns="" id="{8085FF43-4C1F-FA47-9A5D-72F735A38D0E}"/>
              </a:ext>
            </a:extLst>
          </p:cNvPr>
          <p:cNvCxnSpPr/>
          <p:nvPr/>
        </p:nvCxnSpPr>
        <p:spPr>
          <a:xfrm>
            <a:off x="346744" y="1005840"/>
            <a:ext cx="2752506" cy="0"/>
          </a:xfrm>
          <a:prstGeom prst="line">
            <a:avLst/>
          </a:prstGeom>
          <a:ln w="34925">
            <a:solidFill>
              <a:schemeClr val="accent5">
                <a:alpha val="6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BD0E6124-74E3-8F48-967E-DADFED2ABDE4}"/>
              </a:ext>
            </a:extLst>
          </p:cNvPr>
          <p:cNvSpPr txBox="1"/>
          <p:nvPr/>
        </p:nvSpPr>
        <p:spPr>
          <a:xfrm>
            <a:off x="2221426" y="613745"/>
            <a:ext cx="1755647" cy="374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smtClean="0"/>
              <a:t>Project</a:t>
            </a:r>
            <a:endParaRPr kumimoji="1"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C78FC71B-3473-0340-A49E-80A68AF8457B}"/>
              </a:ext>
            </a:extLst>
          </p:cNvPr>
          <p:cNvSpPr txBox="1"/>
          <p:nvPr/>
        </p:nvSpPr>
        <p:spPr>
          <a:xfrm>
            <a:off x="3816447" y="3074743"/>
            <a:ext cx="44296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2400" b="1" dirty="0" smtClean="0"/>
              <a:t>한담 </a:t>
            </a:r>
            <a:r>
              <a:rPr kumimoji="1" lang="en-US" altLang="ko-KR" sz="2400" b="1" dirty="0" smtClean="0"/>
              <a:t>– </a:t>
            </a:r>
            <a:r>
              <a:rPr kumimoji="1" lang="ko-KR" altLang="en-US" sz="2400" b="1" dirty="0" smtClean="0"/>
              <a:t>한성대 강의평가 서비스</a:t>
            </a:r>
            <a:endParaRPr kumimoji="1" lang="en-US" alt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512052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35A6ADA2-66F6-0F4C-9F59-368ABC42589E}"/>
              </a:ext>
            </a:extLst>
          </p:cNvPr>
          <p:cNvSpPr/>
          <p:nvPr/>
        </p:nvSpPr>
        <p:spPr>
          <a:xfrm>
            <a:off x="346744" y="250849"/>
            <a:ext cx="11369040" cy="6294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9000000" sx="101000" sy="101000" algn="tl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smtClean="0"/>
              <a:t>d</a:t>
            </a:r>
            <a:endParaRPr kumimoji="1" lang="ko-KR" altLang="en-US" dirty="0"/>
          </a:p>
        </p:txBody>
      </p:sp>
      <p:cxnSp>
        <p:nvCxnSpPr>
          <p:cNvPr id="3" name="직선 연결선[R] 2">
            <a:extLst>
              <a:ext uri="{FF2B5EF4-FFF2-40B4-BE49-F238E27FC236}">
                <a16:creationId xmlns:a16="http://schemas.microsoft.com/office/drawing/2014/main" xmlns="" id="{8085FF43-4C1F-FA47-9A5D-72F735A38D0E}"/>
              </a:ext>
            </a:extLst>
          </p:cNvPr>
          <p:cNvCxnSpPr/>
          <p:nvPr/>
        </p:nvCxnSpPr>
        <p:spPr>
          <a:xfrm>
            <a:off x="346744" y="1005840"/>
            <a:ext cx="2752506" cy="0"/>
          </a:xfrm>
          <a:prstGeom prst="line">
            <a:avLst/>
          </a:prstGeom>
          <a:ln w="34925">
            <a:solidFill>
              <a:schemeClr val="accent5">
                <a:alpha val="6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BD0E6124-74E3-8F48-967E-DADFED2ABDE4}"/>
              </a:ext>
            </a:extLst>
          </p:cNvPr>
          <p:cNvSpPr txBox="1"/>
          <p:nvPr/>
        </p:nvSpPr>
        <p:spPr>
          <a:xfrm>
            <a:off x="2537016" y="613745"/>
            <a:ext cx="1755647" cy="374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 smtClean="0"/>
              <a:t>한</a:t>
            </a:r>
            <a:r>
              <a:rPr kumimoji="1" lang="ko-KR" altLang="en-US" dirty="0"/>
              <a:t>담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85522" y="2023329"/>
            <a:ext cx="251662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한성대학교의 강의평가 정보는 교수님들만 알 수 있고 학생들은 알 수 없어서 강의를 선택할 때 불편함이 있었다</a:t>
            </a:r>
            <a:r>
              <a:rPr lang="en-US" altLang="ko-KR" sz="105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.</a:t>
            </a:r>
            <a:r>
              <a:rPr lang="ko-KR" altLang="en-US" sz="105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endParaRPr lang="en-US" altLang="ko-KR" sz="1050" dirty="0" smtClean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r>
              <a:rPr lang="ko-KR" altLang="en-US" sz="105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그래서 </a:t>
            </a:r>
            <a:r>
              <a:rPr lang="ko-KR" altLang="en-US" sz="105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학생들이 강의평가를 하고 서로 정보를 공유할 수 있는 서비스를 기획하게 됐다</a:t>
            </a:r>
            <a:r>
              <a:rPr lang="en-US" altLang="ko-KR" sz="105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.</a:t>
            </a:r>
            <a:r>
              <a:rPr lang="ko-KR" altLang="en-US" sz="105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endParaRPr lang="en-US" altLang="ko-KR" sz="1050" dirty="0" smtClean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r>
              <a:rPr lang="ko-KR" altLang="en-US" sz="105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지금은 </a:t>
            </a:r>
            <a:r>
              <a:rPr lang="ko-KR" altLang="en-US" sz="105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단지 강의평가 서비스가 아닌 학생들의 편의를 위해 성적 확인 기능 및 셔틀버스</a:t>
            </a:r>
            <a:r>
              <a:rPr lang="en-US" altLang="ko-KR" sz="105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,</a:t>
            </a:r>
            <a:r>
              <a:rPr lang="ko-KR" altLang="en-US" sz="105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커뮤니티 기능이 추가 됐다</a:t>
            </a:r>
            <a:r>
              <a:rPr lang="en-US" altLang="ko-KR" sz="105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. </a:t>
            </a:r>
            <a:r>
              <a:rPr lang="ko-KR" altLang="en-US" sz="105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현재는 </a:t>
            </a:r>
            <a:r>
              <a:rPr lang="en-US" altLang="ko-KR" sz="105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Version3</a:t>
            </a:r>
            <a:r>
              <a:rPr lang="ko-KR" altLang="en-US" sz="105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개발 중 이다</a:t>
            </a:r>
            <a:r>
              <a:rPr lang="en-US" altLang="ko-KR" sz="105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.</a:t>
            </a:r>
            <a:endParaRPr lang="ko-KR" altLang="en-US" sz="105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endParaRPr lang="ko-KR" altLang="en-US" sz="1100" dirty="0"/>
          </a:p>
        </p:txBody>
      </p:sp>
      <p:sp>
        <p:nvSpPr>
          <p:cNvPr id="4" name="TextBox 3"/>
          <p:cNvSpPr txBox="1"/>
          <p:nvPr/>
        </p:nvSpPr>
        <p:spPr>
          <a:xfrm>
            <a:off x="485522" y="1677318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latin typeface="+mj-lt"/>
              </a:rPr>
              <a:t>개요</a:t>
            </a:r>
            <a:endParaRPr lang="ko-KR" altLang="en-US" sz="1600" b="1" dirty="0">
              <a:latin typeface="+mj-lt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lc="http://schemas.openxmlformats.org/drawingml/2006/lockedCanvas" xmlns:a16="http://schemas.microsoft.com/office/drawing/2014/main" xmlns="" id="{B5F64DA2-8A76-C54B-B23F-364B3C1394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0361" y="1372183"/>
            <a:ext cx="5550743" cy="45506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69243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35A6ADA2-66F6-0F4C-9F59-368ABC42589E}"/>
              </a:ext>
            </a:extLst>
          </p:cNvPr>
          <p:cNvSpPr/>
          <p:nvPr/>
        </p:nvSpPr>
        <p:spPr>
          <a:xfrm>
            <a:off x="346744" y="250849"/>
            <a:ext cx="11369040" cy="6294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9000000" sx="101000" sy="101000" algn="tl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smtClean="0"/>
              <a:t>d</a:t>
            </a:r>
            <a:endParaRPr kumimoji="1" lang="ko-KR" altLang="en-US" dirty="0"/>
          </a:p>
        </p:txBody>
      </p:sp>
      <p:cxnSp>
        <p:nvCxnSpPr>
          <p:cNvPr id="3" name="직선 연결선[R] 2">
            <a:extLst>
              <a:ext uri="{FF2B5EF4-FFF2-40B4-BE49-F238E27FC236}">
                <a16:creationId xmlns:a16="http://schemas.microsoft.com/office/drawing/2014/main" xmlns="" id="{8085FF43-4C1F-FA47-9A5D-72F735A38D0E}"/>
              </a:ext>
            </a:extLst>
          </p:cNvPr>
          <p:cNvCxnSpPr/>
          <p:nvPr/>
        </p:nvCxnSpPr>
        <p:spPr>
          <a:xfrm>
            <a:off x="346744" y="1005840"/>
            <a:ext cx="2752506" cy="0"/>
          </a:xfrm>
          <a:prstGeom prst="line">
            <a:avLst/>
          </a:prstGeom>
          <a:ln w="34925">
            <a:solidFill>
              <a:schemeClr val="accent5">
                <a:alpha val="6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BD0E6124-74E3-8F48-967E-DADFED2ABDE4}"/>
              </a:ext>
            </a:extLst>
          </p:cNvPr>
          <p:cNvSpPr txBox="1"/>
          <p:nvPr/>
        </p:nvSpPr>
        <p:spPr>
          <a:xfrm>
            <a:off x="2537016" y="613745"/>
            <a:ext cx="1755647" cy="374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 smtClean="0"/>
              <a:t>한</a:t>
            </a:r>
            <a:r>
              <a:rPr kumimoji="1" lang="ko-KR" altLang="en-US" dirty="0"/>
              <a:t>담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85522" y="2766841"/>
            <a:ext cx="25166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1100" dirty="0"/>
          </a:p>
        </p:txBody>
      </p:sp>
      <p:sp>
        <p:nvSpPr>
          <p:cNvPr id="4" name="TextBox 3"/>
          <p:cNvSpPr txBox="1"/>
          <p:nvPr/>
        </p:nvSpPr>
        <p:spPr>
          <a:xfrm>
            <a:off x="3414838" y="988649"/>
            <a:ext cx="29354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err="1" smtClean="0">
                <a:latin typeface="+mj-lt"/>
              </a:rPr>
              <a:t>프론트엔드</a:t>
            </a:r>
            <a:r>
              <a:rPr lang="ko-KR" altLang="en-US" sz="1600" b="1" dirty="0" smtClean="0">
                <a:latin typeface="+mj-lt"/>
              </a:rPr>
              <a:t> 사용 기술 및 도구</a:t>
            </a:r>
            <a:endParaRPr lang="ko-KR" altLang="en-US" sz="1600" b="1" dirty="0"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14839" y="1327985"/>
            <a:ext cx="5727850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eaLnBrk="0">
              <a:buFontTx/>
              <a:buChar char="-"/>
            </a:pP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React Native: Android </a:t>
            </a:r>
            <a:r>
              <a:rPr lang="ko-KR" altLang="en-US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와 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IOS </a:t>
            </a:r>
            <a:r>
              <a:rPr lang="ko-KR" altLang="en-US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개발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,</a:t>
            </a:r>
            <a:r>
              <a:rPr lang="ko-KR" altLang="en-US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1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Javascript</a:t>
            </a:r>
            <a:r>
              <a:rPr lang="ko-KR" altLang="en-US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사용</a:t>
            </a:r>
            <a:endParaRPr lang="en-US" altLang="ko-KR" sz="11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171450" indent="-171450" eaLnBrk="0">
              <a:buFontTx/>
              <a:buChar char="-"/>
            </a:pPr>
            <a:endParaRPr lang="en-US" altLang="ko-KR" sz="11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171450" indent="-171450" eaLnBrk="0">
              <a:buFontTx/>
              <a:buChar char="-"/>
            </a:pPr>
            <a:r>
              <a:rPr lang="en-US" altLang="ko-KR" sz="11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Redux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:</a:t>
            </a:r>
            <a:r>
              <a:rPr lang="ko-KR" altLang="en-US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상태관리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ko-KR" altLang="en-US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라이브러리</a:t>
            </a:r>
            <a:endParaRPr lang="en-US" altLang="ko-KR" sz="11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171450" indent="-171450" eaLnBrk="0">
              <a:buFontTx/>
              <a:buChar char="-"/>
            </a:pPr>
            <a:endParaRPr lang="en-US" altLang="ko-KR" sz="11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171450" indent="-171450" eaLnBrk="0">
              <a:buFontTx/>
              <a:buChar char="-"/>
            </a:pPr>
            <a:r>
              <a:rPr lang="en-US" altLang="ko-KR" sz="11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Immerjs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:</a:t>
            </a:r>
            <a:r>
              <a:rPr lang="ko-KR" altLang="en-US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불변성 관리 라이브러리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(</a:t>
            </a:r>
            <a:r>
              <a:rPr lang="ko-KR" altLang="en-US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한담 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Version3</a:t>
            </a:r>
            <a:r>
              <a:rPr lang="ko-KR" altLang="en-US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부터 도입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)</a:t>
            </a:r>
          </a:p>
          <a:p>
            <a:pPr marL="171450" indent="-171450" eaLnBrk="0">
              <a:buFontTx/>
              <a:buChar char="-"/>
            </a:pPr>
            <a:endParaRPr lang="en-US" altLang="ko-KR" sz="11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171450" indent="-171450" eaLnBrk="0">
              <a:buFontTx/>
              <a:buChar char="-"/>
            </a:pP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styled-components: </a:t>
            </a:r>
            <a:r>
              <a:rPr lang="ko-KR" altLang="en-US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스타일링 라이브러리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(</a:t>
            </a:r>
            <a:r>
              <a:rPr lang="ko-KR" altLang="en-US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한담 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Version3</a:t>
            </a:r>
            <a:r>
              <a:rPr lang="ko-KR" altLang="en-US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부터 도입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)</a:t>
            </a:r>
          </a:p>
          <a:p>
            <a:pPr marL="171450" indent="-171450" eaLnBrk="0">
              <a:buFontTx/>
              <a:buChar char="-"/>
            </a:pPr>
            <a:endParaRPr lang="en-US" altLang="ko-KR" sz="11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171450" indent="-171450" eaLnBrk="0">
              <a:buFontTx/>
              <a:buChar char="-"/>
            </a:pPr>
            <a:r>
              <a:rPr lang="en-US" altLang="ko-KR" sz="11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Git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: </a:t>
            </a:r>
            <a:r>
              <a:rPr lang="ko-KR" altLang="en-US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형상관리 도구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(</a:t>
            </a:r>
            <a:r>
              <a:rPr lang="ko-KR" altLang="en-US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원격 저장소로 </a:t>
            </a:r>
            <a:r>
              <a:rPr lang="en-US" altLang="ko-KR" sz="11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github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ko-KR" altLang="en-US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사용하다 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Version3</a:t>
            </a:r>
            <a:r>
              <a:rPr lang="ko-KR" altLang="en-US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부터 </a:t>
            </a:r>
            <a:r>
              <a:rPr lang="en-US" altLang="ko-KR" sz="11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bitbucket</a:t>
            </a:r>
            <a:r>
              <a:rPr lang="ko-KR" altLang="en-US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으로 이동</a:t>
            </a:r>
            <a:r>
              <a:rPr lang="en-US" altLang="ko-KR" sz="110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)</a:t>
            </a:r>
          </a:p>
          <a:p>
            <a:pPr marL="171450" indent="-171450" eaLnBrk="0">
              <a:buFontTx/>
              <a:buChar char="-"/>
            </a:pPr>
            <a:endParaRPr lang="en-US" altLang="ko-KR" sz="11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171450" indent="-171450" eaLnBrk="0">
              <a:buFontTx/>
              <a:buChar char="-"/>
            </a:pPr>
            <a:r>
              <a:rPr lang="en-US" altLang="ko-KR" sz="110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Code-Push: </a:t>
            </a:r>
            <a:r>
              <a:rPr lang="ko-KR" altLang="en-US" sz="110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라이브 업데이트</a:t>
            </a:r>
            <a:endParaRPr lang="en-US" altLang="ko-KR" sz="11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eaLnBrk="0"/>
            <a:endParaRPr lang="en-US" altLang="ko-KR" sz="11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eaLnBrk="0"/>
            <a:r>
              <a:rPr lang="ko-KR" altLang="en-US" sz="11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개발도구</a:t>
            </a:r>
            <a:endParaRPr lang="en-US" altLang="ko-KR" sz="1100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eaLnBrk="0"/>
            <a:endParaRPr lang="en-US" altLang="ko-KR" sz="11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171450" indent="-171450" eaLnBrk="0">
              <a:buFontTx/>
              <a:buChar char="-"/>
            </a:pPr>
            <a:r>
              <a:rPr lang="en-US" altLang="ko-KR" sz="11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WebStorm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, Visual Studio Code</a:t>
            </a:r>
          </a:p>
          <a:p>
            <a:pPr marL="171450" indent="-171450" eaLnBrk="0">
              <a:buFontTx/>
              <a:buChar char="-"/>
            </a:pPr>
            <a:endParaRPr lang="en-US" altLang="ko-KR" sz="11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171450" indent="-171450" eaLnBrk="0">
              <a:buFontTx/>
              <a:buChar char="-"/>
            </a:pPr>
            <a:r>
              <a:rPr lang="en-US" altLang="ko-KR" sz="11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Zeplin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: </a:t>
            </a:r>
            <a:r>
              <a:rPr lang="ko-KR" altLang="en-US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디자인 협업 도구로 </a:t>
            </a:r>
            <a:r>
              <a:rPr lang="ko-KR" altLang="en-US" sz="11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사용중</a:t>
            </a:r>
            <a:endParaRPr lang="en-US" altLang="ko-KR" sz="11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171450" indent="-171450" eaLnBrk="0">
              <a:buFontTx/>
              <a:buChar char="-"/>
            </a:pPr>
            <a:endParaRPr lang="en-US" altLang="ko-KR" sz="11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171450" indent="-171450" eaLnBrk="0">
              <a:buFontTx/>
              <a:buChar char="-"/>
            </a:pPr>
            <a:r>
              <a:rPr lang="en-US" altLang="ko-KR" sz="11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Git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Client:</a:t>
            </a:r>
            <a:r>
              <a:rPr lang="ko-KR" altLang="en-US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1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SourceTree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, Fork</a:t>
            </a:r>
          </a:p>
          <a:p>
            <a:endParaRPr lang="ko-KR" altLang="en-US" sz="1100" dirty="0"/>
          </a:p>
        </p:txBody>
      </p:sp>
      <p:sp>
        <p:nvSpPr>
          <p:cNvPr id="7" name="TextBox 6"/>
          <p:cNvSpPr txBox="1"/>
          <p:nvPr/>
        </p:nvSpPr>
        <p:spPr>
          <a:xfrm>
            <a:off x="3414838" y="4782086"/>
            <a:ext cx="503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/>
              <a:t>Git</a:t>
            </a:r>
            <a:endParaRPr lang="ko-KR" alt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3486332" y="5184616"/>
            <a:ext cx="4007828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eaLnBrk="0">
              <a:buFont typeface="Arial" charset="0"/>
              <a:buChar char="•"/>
            </a:pPr>
            <a:r>
              <a:rPr lang="en-US" altLang="ko-KR" sz="1100" b="1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Version1, 2</a:t>
            </a:r>
          </a:p>
          <a:p>
            <a:pPr marL="171450" indent="-171450" eaLnBrk="0">
              <a:buFont typeface="Arial" charset="0"/>
              <a:buChar char="•"/>
            </a:pPr>
            <a:r>
              <a:rPr lang="en-US" altLang="ko-KR" sz="1100" spc="-30" dirty="0" smtClean="0">
                <a:solidFill>
                  <a:srgbClr val="00B0F0"/>
                </a:solidFill>
                <a:latin typeface="Malgun Gothic" panose="020B0503020000020004" pitchFamily="34" charset="-127"/>
                <a:ea typeface="Malgun Gothic" panose="020B0503020000020004" pitchFamily="34" charset="-127"/>
                <a:hlinkClick r:id="rId2"/>
              </a:rPr>
              <a:t>https</a:t>
            </a:r>
            <a:r>
              <a:rPr lang="en-US" altLang="ko-KR" sz="1100" spc="-30" dirty="0">
                <a:solidFill>
                  <a:srgbClr val="00B0F0"/>
                </a:solidFill>
                <a:latin typeface="Malgun Gothic" panose="020B0503020000020004" pitchFamily="34" charset="-127"/>
                <a:ea typeface="Malgun Gothic" panose="020B0503020000020004" pitchFamily="34" charset="-127"/>
                <a:hlinkClick r:id="rId2"/>
              </a:rPr>
              <a:t>://</a:t>
            </a:r>
            <a:r>
              <a:rPr lang="en-US" altLang="ko-KR" sz="1100" spc="-30" dirty="0" smtClean="0">
                <a:solidFill>
                  <a:srgbClr val="00B0F0"/>
                </a:solidFill>
                <a:latin typeface="Malgun Gothic" panose="020B0503020000020004" pitchFamily="34" charset="-127"/>
                <a:ea typeface="Malgun Gothic" panose="020B0503020000020004" pitchFamily="34" charset="-127"/>
                <a:hlinkClick r:id="rId2"/>
              </a:rPr>
              <a:t>github.com/Guyclops/RemoteProject</a:t>
            </a:r>
            <a:endParaRPr lang="en-US" altLang="ko-KR" sz="1100" spc="-30" dirty="0" smtClean="0">
              <a:solidFill>
                <a:srgbClr val="00B0F0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eaLnBrk="0"/>
            <a:endParaRPr lang="en-US" altLang="ko-KR" sz="1100" dirty="0" smtClean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171450" indent="-171450" eaLnBrk="0">
              <a:buFont typeface="Arial" charset="0"/>
              <a:buChar char="•"/>
            </a:pPr>
            <a:r>
              <a:rPr lang="en-US" altLang="ko-KR" sz="1100" b="1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Version3</a:t>
            </a:r>
          </a:p>
          <a:p>
            <a:pPr marL="171450" indent="-171450" eaLnBrk="0">
              <a:buFont typeface="Arial" charset="0"/>
              <a:buChar char="•"/>
            </a:pPr>
            <a:r>
              <a:rPr lang="en" altLang="ko-KR" sz="1100" dirty="0" smtClean="0">
                <a:hlinkClick r:id="rId3"/>
              </a:rPr>
              <a:t>https</a:t>
            </a:r>
            <a:r>
              <a:rPr lang="en" altLang="ko-KR" sz="1100" dirty="0">
                <a:hlinkClick r:id="rId3"/>
              </a:rPr>
              <a:t>://bitbucket.org/Guyclops/handamclient/src/master</a:t>
            </a:r>
            <a:r>
              <a:rPr lang="en" altLang="ko-KR" sz="1100" dirty="0" smtClean="0">
                <a:hlinkClick r:id="rId3"/>
              </a:rPr>
              <a:t>/</a:t>
            </a:r>
            <a:endParaRPr lang="en" altLang="ko-KR" sz="1100" dirty="0" smtClean="0"/>
          </a:p>
        </p:txBody>
      </p:sp>
    </p:spTree>
    <p:extLst>
      <p:ext uri="{BB962C8B-B14F-4D97-AF65-F5344CB8AC3E}">
        <p14:creationId xmlns:p14="http://schemas.microsoft.com/office/powerpoint/2010/main" val="1997939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35A6ADA2-66F6-0F4C-9F59-368ABC42589E}"/>
              </a:ext>
            </a:extLst>
          </p:cNvPr>
          <p:cNvSpPr/>
          <p:nvPr/>
        </p:nvSpPr>
        <p:spPr>
          <a:xfrm>
            <a:off x="346744" y="250849"/>
            <a:ext cx="11369040" cy="6294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9000000" sx="101000" sy="101000" algn="tl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smtClean="0"/>
              <a:t>d</a:t>
            </a:r>
            <a:endParaRPr kumimoji="1" lang="ko-KR" altLang="en-US" dirty="0"/>
          </a:p>
        </p:txBody>
      </p:sp>
      <p:cxnSp>
        <p:nvCxnSpPr>
          <p:cNvPr id="3" name="직선 연결선[R] 2">
            <a:extLst>
              <a:ext uri="{FF2B5EF4-FFF2-40B4-BE49-F238E27FC236}">
                <a16:creationId xmlns:a16="http://schemas.microsoft.com/office/drawing/2014/main" xmlns="" id="{8085FF43-4C1F-FA47-9A5D-72F735A38D0E}"/>
              </a:ext>
            </a:extLst>
          </p:cNvPr>
          <p:cNvCxnSpPr/>
          <p:nvPr/>
        </p:nvCxnSpPr>
        <p:spPr>
          <a:xfrm>
            <a:off x="346744" y="1005840"/>
            <a:ext cx="2752506" cy="0"/>
          </a:xfrm>
          <a:prstGeom prst="line">
            <a:avLst/>
          </a:prstGeom>
          <a:ln w="34925">
            <a:solidFill>
              <a:schemeClr val="accent5">
                <a:alpha val="6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BD0E6124-74E3-8F48-967E-DADFED2ABDE4}"/>
              </a:ext>
            </a:extLst>
          </p:cNvPr>
          <p:cNvSpPr txBox="1"/>
          <p:nvPr/>
        </p:nvSpPr>
        <p:spPr>
          <a:xfrm>
            <a:off x="2537016" y="613745"/>
            <a:ext cx="1755647" cy="374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 smtClean="0"/>
              <a:t>한</a:t>
            </a:r>
            <a:r>
              <a:rPr kumimoji="1" lang="ko-KR" altLang="en-US" dirty="0"/>
              <a:t>담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85522" y="2766841"/>
            <a:ext cx="25166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1100" dirty="0"/>
          </a:p>
        </p:txBody>
      </p:sp>
      <p:sp>
        <p:nvSpPr>
          <p:cNvPr id="4" name="TextBox 3"/>
          <p:cNvSpPr txBox="1"/>
          <p:nvPr/>
        </p:nvSpPr>
        <p:spPr>
          <a:xfrm>
            <a:off x="3414838" y="998162"/>
            <a:ext cx="12827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latin typeface="+mj-lt"/>
              </a:rPr>
              <a:t>서버 구조도</a:t>
            </a:r>
            <a:endParaRPr lang="ko-KR" altLang="en-US" sz="1600" b="1" dirty="0">
              <a:latin typeface="+mj-lt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FF3C11D9-5B20-B54B-9780-5267C46918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2145" y="1386308"/>
            <a:ext cx="7278035" cy="4613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079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35A6ADA2-66F6-0F4C-9F59-368ABC42589E}"/>
              </a:ext>
            </a:extLst>
          </p:cNvPr>
          <p:cNvSpPr/>
          <p:nvPr/>
        </p:nvSpPr>
        <p:spPr>
          <a:xfrm>
            <a:off x="346744" y="250849"/>
            <a:ext cx="11369040" cy="6294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9000000" sx="101000" sy="101000" algn="tl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smtClean="0"/>
              <a:t>d</a:t>
            </a:r>
            <a:endParaRPr kumimoji="1" lang="ko-KR" altLang="en-US" dirty="0"/>
          </a:p>
        </p:txBody>
      </p:sp>
      <p:cxnSp>
        <p:nvCxnSpPr>
          <p:cNvPr id="3" name="직선 연결선[R] 2">
            <a:extLst>
              <a:ext uri="{FF2B5EF4-FFF2-40B4-BE49-F238E27FC236}">
                <a16:creationId xmlns:a16="http://schemas.microsoft.com/office/drawing/2014/main" xmlns="" id="{8085FF43-4C1F-FA47-9A5D-72F735A38D0E}"/>
              </a:ext>
            </a:extLst>
          </p:cNvPr>
          <p:cNvCxnSpPr/>
          <p:nvPr/>
        </p:nvCxnSpPr>
        <p:spPr>
          <a:xfrm>
            <a:off x="346744" y="1005840"/>
            <a:ext cx="2752506" cy="0"/>
          </a:xfrm>
          <a:prstGeom prst="line">
            <a:avLst/>
          </a:prstGeom>
          <a:ln w="34925">
            <a:solidFill>
              <a:schemeClr val="accent5">
                <a:alpha val="6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BD0E6124-74E3-8F48-967E-DADFED2ABDE4}"/>
              </a:ext>
            </a:extLst>
          </p:cNvPr>
          <p:cNvSpPr txBox="1"/>
          <p:nvPr/>
        </p:nvSpPr>
        <p:spPr>
          <a:xfrm>
            <a:off x="2221426" y="613745"/>
            <a:ext cx="1755647" cy="374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smtClean="0"/>
              <a:t>Project</a:t>
            </a:r>
            <a:endParaRPr kumimoji="1"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C78FC71B-3473-0340-A49E-80A68AF8457B}"/>
              </a:ext>
            </a:extLst>
          </p:cNvPr>
          <p:cNvSpPr txBox="1"/>
          <p:nvPr/>
        </p:nvSpPr>
        <p:spPr>
          <a:xfrm>
            <a:off x="3383672" y="3074743"/>
            <a:ext cx="5295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2400" b="1" dirty="0" err="1">
                <a:latin typeface="+mj-lt"/>
              </a:rPr>
              <a:t>RemoteProject</a:t>
            </a:r>
            <a:r>
              <a:rPr kumimoji="1" lang="en-US" altLang="ko-KR" sz="2400" b="1" dirty="0">
                <a:latin typeface="+mj-lt"/>
              </a:rPr>
              <a:t> – </a:t>
            </a:r>
            <a:r>
              <a:rPr kumimoji="1" lang="ko-KR" altLang="en-US" sz="2400" b="1" dirty="0">
                <a:latin typeface="+mj-lt"/>
              </a:rPr>
              <a:t>원격제어 프로그램</a:t>
            </a:r>
            <a:endParaRPr kumimoji="1" lang="en-US" altLang="ko-KR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60760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35A6ADA2-66F6-0F4C-9F59-368ABC42589E}"/>
              </a:ext>
            </a:extLst>
          </p:cNvPr>
          <p:cNvSpPr/>
          <p:nvPr/>
        </p:nvSpPr>
        <p:spPr>
          <a:xfrm>
            <a:off x="346744" y="250849"/>
            <a:ext cx="11369040" cy="6294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9000000" sx="101000" sy="101000" algn="tl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smtClean="0"/>
              <a:t>d</a:t>
            </a:r>
            <a:endParaRPr kumimoji="1" lang="ko-KR" altLang="en-US" dirty="0"/>
          </a:p>
        </p:txBody>
      </p:sp>
      <p:cxnSp>
        <p:nvCxnSpPr>
          <p:cNvPr id="3" name="직선 연결선[R] 2">
            <a:extLst>
              <a:ext uri="{FF2B5EF4-FFF2-40B4-BE49-F238E27FC236}">
                <a16:creationId xmlns:a16="http://schemas.microsoft.com/office/drawing/2014/main" xmlns="" id="{8085FF43-4C1F-FA47-9A5D-72F735A38D0E}"/>
              </a:ext>
            </a:extLst>
          </p:cNvPr>
          <p:cNvCxnSpPr/>
          <p:nvPr/>
        </p:nvCxnSpPr>
        <p:spPr>
          <a:xfrm>
            <a:off x="346744" y="1005840"/>
            <a:ext cx="2752506" cy="0"/>
          </a:xfrm>
          <a:prstGeom prst="line">
            <a:avLst/>
          </a:prstGeom>
          <a:ln w="34925">
            <a:solidFill>
              <a:schemeClr val="accent5">
                <a:alpha val="6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BD0E6124-74E3-8F48-967E-DADFED2ABDE4}"/>
              </a:ext>
            </a:extLst>
          </p:cNvPr>
          <p:cNvSpPr txBox="1"/>
          <p:nvPr/>
        </p:nvSpPr>
        <p:spPr>
          <a:xfrm>
            <a:off x="1505444" y="630936"/>
            <a:ext cx="1755647" cy="374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err="1" smtClean="0"/>
              <a:t>RemoteProject</a:t>
            </a:r>
            <a:endParaRPr kumimoji="1"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485522" y="2023329"/>
            <a:ext cx="2516623" cy="1473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>
              <a:lnSpc>
                <a:spcPct val="150000"/>
              </a:lnSpc>
            </a:pPr>
            <a:r>
              <a:rPr lang="en-US" altLang="ko-KR" sz="105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이전</a:t>
            </a:r>
            <a:r>
              <a:rPr lang="en-US" altLang="ko-KR" sz="105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05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직장에서</a:t>
            </a:r>
            <a:r>
              <a:rPr lang="en-US" altLang="ko-KR" sz="105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05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팀뷰어를</a:t>
            </a:r>
            <a:r>
              <a:rPr lang="en-US" altLang="ko-KR" sz="105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05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사용했었는데</a:t>
            </a:r>
            <a:r>
              <a:rPr lang="en-US" altLang="ko-KR" sz="105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05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채팅기능의</a:t>
            </a:r>
            <a:r>
              <a:rPr lang="en-US" altLang="ko-KR" sz="105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05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접근성이</a:t>
            </a:r>
            <a:r>
              <a:rPr lang="en-US" altLang="ko-KR" sz="105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05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낮은건지</a:t>
            </a:r>
            <a:r>
              <a:rPr lang="en-US" altLang="ko-KR" sz="105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05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제어하는</a:t>
            </a:r>
            <a:r>
              <a:rPr lang="en-US" altLang="ko-KR" sz="105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05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PC의</a:t>
            </a:r>
            <a:r>
              <a:rPr lang="en-US" altLang="ko-KR" sz="105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05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메모장을</a:t>
            </a:r>
            <a:r>
              <a:rPr lang="en-US" altLang="ko-KR" sz="105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05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이용해서</a:t>
            </a:r>
            <a:r>
              <a:rPr lang="en-US" altLang="ko-KR" sz="105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05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대화하는것을</a:t>
            </a:r>
            <a:r>
              <a:rPr lang="en-US" altLang="ko-KR" sz="105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05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보고</a:t>
            </a:r>
            <a:r>
              <a:rPr lang="en-US" altLang="ko-KR" sz="105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05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이를</a:t>
            </a:r>
            <a:r>
              <a:rPr lang="en-US" altLang="ko-KR" sz="105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05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개선해</a:t>
            </a:r>
            <a:r>
              <a:rPr lang="en-US" altLang="ko-KR" sz="105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05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보고싶었다</a:t>
            </a:r>
            <a:r>
              <a:rPr lang="en-US" altLang="ko-KR" sz="105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. </a:t>
            </a:r>
            <a:r>
              <a:rPr lang="en-US" altLang="ko-KR" sz="105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JAVA를</a:t>
            </a:r>
            <a:r>
              <a:rPr lang="en-US" altLang="ko-KR" sz="105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05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사용하여</a:t>
            </a:r>
            <a:r>
              <a:rPr lang="en-US" altLang="ko-KR" sz="105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05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프로그램을</a:t>
            </a:r>
            <a:r>
              <a:rPr lang="en-US" altLang="ko-KR" sz="105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05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개발했다</a:t>
            </a:r>
            <a:r>
              <a:rPr lang="en-US" altLang="ko-KR" sz="105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.</a:t>
            </a:r>
            <a:endParaRPr lang="ko-KR" altLang="en-US" sz="105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endParaRPr lang="ko-KR" altLang="en-US" sz="1100" dirty="0"/>
          </a:p>
        </p:txBody>
      </p:sp>
      <p:sp>
        <p:nvSpPr>
          <p:cNvPr id="4" name="TextBox 3"/>
          <p:cNvSpPr txBox="1"/>
          <p:nvPr/>
        </p:nvSpPr>
        <p:spPr>
          <a:xfrm>
            <a:off x="485522" y="1677318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latin typeface="+mj-lt"/>
              </a:rPr>
              <a:t>개요</a:t>
            </a:r>
            <a:endParaRPr lang="ko-KR" altLang="en-US" sz="1600" b="1" dirty="0"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14838" y="998162"/>
            <a:ext cx="21227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latin typeface="+mj-lt"/>
              </a:rPr>
              <a:t>Server-Client </a:t>
            </a:r>
            <a:r>
              <a:rPr lang="ko-KR" altLang="en-US" sz="1600" b="1" dirty="0" smtClean="0">
                <a:latin typeface="+mj-lt"/>
              </a:rPr>
              <a:t>구조도</a:t>
            </a:r>
            <a:endParaRPr lang="ko-KR" altLang="en-US" sz="1600" b="1" dirty="0">
              <a:latin typeface="+mj-lt"/>
            </a:endParaRPr>
          </a:p>
        </p:txBody>
      </p:sp>
      <p:grpSp>
        <p:nvGrpSpPr>
          <p:cNvPr id="48" name="그룹 47"/>
          <p:cNvGrpSpPr/>
          <p:nvPr/>
        </p:nvGrpSpPr>
        <p:grpSpPr>
          <a:xfrm>
            <a:off x="3507426" y="1625506"/>
            <a:ext cx="5419279" cy="4482394"/>
            <a:chOff x="2406015" y="1424940"/>
            <a:chExt cx="6092825" cy="5063490"/>
          </a:xfrm>
        </p:grpSpPr>
        <p:sp>
          <p:nvSpPr>
            <p:cNvPr id="49" name="직사각형 48"/>
            <p:cNvSpPr>
              <a:spLocks/>
            </p:cNvSpPr>
            <p:nvPr/>
          </p:nvSpPr>
          <p:spPr>
            <a:xfrm>
              <a:off x="2406650" y="2780665"/>
              <a:ext cx="5761355" cy="293414"/>
            </a:xfrm>
            <a:prstGeom prst="rect">
              <a:avLst/>
            </a:prstGeom>
          </p:spPr>
          <p:txBody>
            <a:bodyPr vert="horz" wrap="square" lIns="91440" tIns="45720" rIns="91440" bIns="45720" anchor="t">
              <a:spAutoFit/>
            </a:bodyPr>
            <a:lstStyle/>
            <a:p>
              <a:pPr marL="0" indent="0" algn="l" defTabSz="914400" eaLnBrk="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ko-KR" altLang="en-US" sz="1000" b="0" cap="none" dirty="0">
                <a:solidFill>
                  <a:srgbClr val="FFFFFF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0" name="도형 65"/>
            <p:cNvSpPr>
              <a:spLocks/>
            </p:cNvSpPr>
            <p:nvPr/>
          </p:nvSpPr>
          <p:spPr>
            <a:xfrm>
              <a:off x="2406015" y="1424940"/>
              <a:ext cx="6092825" cy="506349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5080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ko-KR" altLang="en-US" sz="1800" b="0" cap="none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1" name="도형 66"/>
            <p:cNvSpPr>
              <a:spLocks/>
            </p:cNvSpPr>
            <p:nvPr/>
          </p:nvSpPr>
          <p:spPr>
            <a:xfrm>
              <a:off x="2776855" y="2238375"/>
              <a:ext cx="1532890" cy="35198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5080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ko-KR" altLang="en-US" sz="1800" b="0" cap="none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2" name="도형 67"/>
            <p:cNvSpPr>
              <a:spLocks/>
            </p:cNvSpPr>
            <p:nvPr/>
          </p:nvSpPr>
          <p:spPr>
            <a:xfrm>
              <a:off x="6523355" y="2238375"/>
              <a:ext cx="1640205" cy="353187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5080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endParaRPr lang="ko-KR" altLang="en-US" sz="1800" b="0" cap="none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3" name="텍스트 상자 68"/>
            <p:cNvSpPr txBox="1">
              <a:spLocks/>
            </p:cNvSpPr>
            <p:nvPr/>
          </p:nvSpPr>
          <p:spPr>
            <a:xfrm>
              <a:off x="3039745" y="2406015"/>
              <a:ext cx="1105535" cy="308610"/>
            </a:xfrm>
            <a:prstGeom prst="rect">
              <a:avLst/>
            </a:prstGeom>
            <a:noFill/>
            <a:ln w="0">
              <a:noFill/>
              <a:prstDash/>
            </a:ln>
          </p:spPr>
          <p:txBody>
            <a:bodyPr vert="horz" wrap="none" lIns="89535" tIns="46355" rIns="89535" bIns="46355" anchor="t">
              <a:noAutofit/>
            </a:bodyPr>
            <a:lstStyle/>
            <a:p>
              <a:pPr marL="0" indent="0" algn="l" defTabSz="5080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cap="none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제어하는PC</a:t>
              </a:r>
              <a:endParaRPr lang="ko-KR" altLang="en-US" sz="1400" b="0" cap="none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4" name="텍스트 상자 69"/>
            <p:cNvSpPr txBox="1">
              <a:spLocks/>
            </p:cNvSpPr>
            <p:nvPr/>
          </p:nvSpPr>
          <p:spPr>
            <a:xfrm>
              <a:off x="6714490" y="2406015"/>
              <a:ext cx="1283335" cy="308610"/>
            </a:xfrm>
            <a:prstGeom prst="rect">
              <a:avLst/>
            </a:prstGeom>
            <a:noFill/>
            <a:ln w="0" cap="flat" cmpd="sng">
              <a:solidFill>
                <a:srgbClr val="FFFFFF">
                  <a:alpha val="100000"/>
                </a:srgbClr>
              </a:solidFill>
              <a:prstDash/>
            </a:ln>
          </p:spPr>
          <p:txBody>
            <a:bodyPr vert="horz" wrap="none" lIns="89535" tIns="46355" rIns="89535" bIns="46355" anchor="t">
              <a:noAutofit/>
            </a:bodyPr>
            <a:lstStyle/>
            <a:p>
              <a:pPr marL="0" indent="0" algn="l" defTabSz="5080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cap="none" dirty="0">
                  <a:solidFill>
                    <a:srgbClr val="000000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제어당하는PC</a:t>
              </a:r>
              <a:endParaRPr lang="ko-KR" altLang="en-US" sz="1400" b="0" cap="none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5" name="도형 70"/>
            <p:cNvSpPr>
              <a:spLocks/>
            </p:cNvSpPr>
            <p:nvPr/>
          </p:nvSpPr>
          <p:spPr>
            <a:xfrm>
              <a:off x="3004185" y="2788920"/>
              <a:ext cx="1125855" cy="52768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5080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cap="none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제어화면</a:t>
              </a:r>
              <a:endParaRPr lang="ko-KR" altLang="en-US" sz="1400" b="0" cap="none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 marL="0" indent="0" algn="ctr" defTabSz="5080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cap="none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수신</a:t>
              </a:r>
              <a:endParaRPr lang="ko-KR" altLang="en-US" sz="1400" b="0" cap="none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6" name="도형 71"/>
            <p:cNvSpPr>
              <a:spLocks/>
            </p:cNvSpPr>
            <p:nvPr/>
          </p:nvSpPr>
          <p:spPr>
            <a:xfrm>
              <a:off x="6774180" y="2776855"/>
              <a:ext cx="1125855" cy="52768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5080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cap="none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제어화면</a:t>
              </a:r>
              <a:endParaRPr lang="ko-KR" altLang="en-US" sz="1400" b="0" cap="none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 marL="0" indent="0" algn="ctr" defTabSz="5080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cap="none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전송</a:t>
              </a:r>
              <a:endParaRPr lang="ko-KR" altLang="en-US" sz="1400" b="0" cap="none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cxnSp>
          <p:nvCxnSpPr>
            <p:cNvPr id="57" name="도형 72"/>
            <p:cNvCxnSpPr>
              <a:stCxn id="56" idx="1"/>
              <a:endCxn id="55" idx="3"/>
            </p:cNvCxnSpPr>
            <p:nvPr/>
          </p:nvCxnSpPr>
          <p:spPr>
            <a:xfrm flipH="1">
              <a:off x="4129405" y="3040380"/>
              <a:ext cx="2645410" cy="12700"/>
            </a:xfrm>
            <a:prstGeom prst="straightConnector1">
              <a:avLst/>
            </a:prstGeom>
            <a:ln w="9525" cap="flat" cmpd="sng">
              <a:prstDash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텍스트 상자 73"/>
            <p:cNvSpPr txBox="1">
              <a:spLocks/>
            </p:cNvSpPr>
            <p:nvPr/>
          </p:nvSpPr>
          <p:spPr>
            <a:xfrm>
              <a:off x="5146675" y="2597150"/>
              <a:ext cx="567055" cy="370205"/>
            </a:xfrm>
            <a:prstGeom prst="rect">
              <a:avLst/>
            </a:prstGeom>
            <a:noFill/>
            <a:ln w="0">
              <a:noFill/>
              <a:prstDash/>
            </a:ln>
          </p:spPr>
          <p:txBody>
            <a:bodyPr vert="horz" wrap="none" lIns="89535" tIns="46355" rIns="89535" bIns="46355" anchor="t">
              <a:noAutofit/>
            </a:bodyPr>
            <a:lstStyle/>
            <a:p>
              <a:pPr marL="0" indent="0" algn="l" defTabSz="5080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800" b="0" cap="none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TCP</a:t>
              </a:r>
              <a:endParaRPr lang="ko-KR" altLang="en-US" sz="1800" b="0" cap="none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9" name="도형 74"/>
            <p:cNvSpPr>
              <a:spLocks/>
            </p:cNvSpPr>
            <p:nvPr/>
          </p:nvSpPr>
          <p:spPr>
            <a:xfrm>
              <a:off x="3028315" y="3519170"/>
              <a:ext cx="1125855" cy="95821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5080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cap="none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마우스/</a:t>
              </a:r>
              <a:endParaRPr lang="ko-KR" altLang="en-US" sz="1400" b="0" cap="none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 marL="0" indent="0" algn="ctr" defTabSz="5080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cap="none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키보드</a:t>
              </a:r>
              <a:endParaRPr lang="ko-KR" altLang="en-US" sz="1400" b="0" cap="none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 marL="0" indent="0" algn="ctr" defTabSz="5080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cap="none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전송</a:t>
              </a:r>
              <a:endParaRPr lang="ko-KR" altLang="en-US" sz="1400" b="0" cap="none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60" name="도형 75"/>
            <p:cNvSpPr>
              <a:spLocks/>
            </p:cNvSpPr>
            <p:nvPr/>
          </p:nvSpPr>
          <p:spPr>
            <a:xfrm>
              <a:off x="6774815" y="3519170"/>
              <a:ext cx="1125855" cy="95821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5080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cap="none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마우스/</a:t>
              </a:r>
              <a:endParaRPr lang="ko-KR" altLang="en-US" sz="1400" b="0" cap="none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 marL="0" indent="0" algn="ctr" defTabSz="5080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cap="none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키보드</a:t>
              </a:r>
              <a:endParaRPr lang="ko-KR" altLang="en-US" sz="1400" b="0" cap="none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 marL="0" indent="0" algn="ctr" defTabSz="5080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cap="none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수신</a:t>
              </a:r>
              <a:endParaRPr lang="ko-KR" altLang="en-US" sz="1400" b="0" cap="none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cxnSp>
          <p:nvCxnSpPr>
            <p:cNvPr id="61" name="도형 76"/>
            <p:cNvCxnSpPr>
              <a:stCxn id="59" idx="3"/>
              <a:endCxn id="60" idx="1"/>
            </p:cNvCxnSpPr>
            <p:nvPr/>
          </p:nvCxnSpPr>
          <p:spPr>
            <a:xfrm>
              <a:off x="4153535" y="3997960"/>
              <a:ext cx="2621915" cy="635"/>
            </a:xfrm>
            <a:prstGeom prst="straightConnector1">
              <a:avLst/>
            </a:prstGeom>
            <a:ln w="9525" cap="flat" cmpd="sng">
              <a:prstDash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텍스트 상자 77"/>
            <p:cNvSpPr txBox="1">
              <a:spLocks/>
            </p:cNvSpPr>
            <p:nvPr/>
          </p:nvSpPr>
          <p:spPr>
            <a:xfrm>
              <a:off x="5158740" y="3626485"/>
              <a:ext cx="635635" cy="370840"/>
            </a:xfrm>
            <a:prstGeom prst="rect">
              <a:avLst/>
            </a:prstGeom>
            <a:noFill/>
            <a:ln w="0">
              <a:noFill/>
              <a:prstDash/>
            </a:ln>
          </p:spPr>
          <p:txBody>
            <a:bodyPr vert="horz" wrap="none" lIns="89535" tIns="46355" rIns="89535" bIns="46355" numCol="1" anchor="t">
              <a:noAutofit/>
            </a:bodyPr>
            <a:lstStyle/>
            <a:p>
              <a:pPr marL="0" indent="0" algn="l" defTabSz="508000" eaLnBrk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800" b="0" cap="none" dirty="0">
                  <a:solidFill>
                    <a:srgbClr val="000000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UDP</a:t>
              </a:r>
              <a:endParaRPr lang="ko-KR" altLang="en-US" sz="1800" b="0" cap="none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63" name="도형 78"/>
            <p:cNvSpPr>
              <a:spLocks/>
            </p:cNvSpPr>
            <p:nvPr/>
          </p:nvSpPr>
          <p:spPr>
            <a:xfrm>
              <a:off x="3028315" y="4931410"/>
              <a:ext cx="1125855" cy="52768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5080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cap="none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채팅</a:t>
              </a:r>
              <a:endParaRPr lang="ko-KR" altLang="en-US" sz="1400" b="0" cap="none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 marL="0" indent="0" algn="ctr" defTabSz="5080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cap="none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송/수신</a:t>
              </a:r>
              <a:endParaRPr lang="ko-KR" altLang="en-US" sz="1400" b="0" cap="none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64" name="도형 79"/>
            <p:cNvSpPr>
              <a:spLocks/>
            </p:cNvSpPr>
            <p:nvPr/>
          </p:nvSpPr>
          <p:spPr>
            <a:xfrm>
              <a:off x="6774815" y="4942840"/>
              <a:ext cx="1125855" cy="52768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anchor="ctr">
              <a:noAutofit/>
            </a:bodyPr>
            <a:lstStyle/>
            <a:p>
              <a:pPr marL="0" indent="0" algn="ctr" defTabSz="5080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cap="none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채팅</a:t>
              </a:r>
              <a:endParaRPr lang="ko-KR" altLang="en-US" sz="1400" b="0" cap="none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 marL="0" indent="0" algn="ctr" defTabSz="5080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400" b="0" cap="none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송/수신</a:t>
              </a:r>
              <a:endParaRPr lang="ko-KR" altLang="en-US" sz="1400" b="0" cap="none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cxnSp>
          <p:nvCxnSpPr>
            <p:cNvPr id="65" name="도형 80"/>
            <p:cNvCxnSpPr>
              <a:stCxn id="63" idx="3"/>
              <a:endCxn id="64" idx="1"/>
            </p:cNvCxnSpPr>
            <p:nvPr/>
          </p:nvCxnSpPr>
          <p:spPr>
            <a:xfrm>
              <a:off x="4153535" y="5194935"/>
              <a:ext cx="2621915" cy="12065"/>
            </a:xfrm>
            <a:prstGeom prst="straightConnector1">
              <a:avLst/>
            </a:prstGeom>
            <a:ln w="9525" cap="flat" cmpd="sng">
              <a:prstDash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텍스트 상자 81"/>
            <p:cNvSpPr txBox="1">
              <a:spLocks/>
            </p:cNvSpPr>
            <p:nvPr/>
          </p:nvSpPr>
          <p:spPr>
            <a:xfrm>
              <a:off x="4919979" y="4777740"/>
              <a:ext cx="1113155" cy="370205"/>
            </a:xfrm>
            <a:prstGeom prst="rect">
              <a:avLst/>
            </a:prstGeom>
            <a:noFill/>
            <a:ln w="0" cap="flat" cmpd="sng">
              <a:solidFill>
                <a:srgbClr val="FFFFFF">
                  <a:alpha val="100000"/>
                </a:srgbClr>
              </a:solidFill>
              <a:prstDash/>
            </a:ln>
          </p:spPr>
          <p:txBody>
            <a:bodyPr vert="horz" wrap="none" lIns="89535" tIns="46355" rIns="89535" bIns="46355" anchor="t">
              <a:noAutofit/>
            </a:bodyPr>
            <a:lstStyle/>
            <a:p>
              <a:pPr marL="0" indent="0" algn="l" defTabSz="5080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lang="en-US" altLang="ko-KR" sz="1800" b="0" cap="none" dirty="0">
                  <a:solidFill>
                    <a:srgbClr val="000000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TCP/UDP</a:t>
              </a:r>
              <a:endParaRPr lang="ko-KR" altLang="en-US" sz="1800" b="0" cap="none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485522" y="3472224"/>
            <a:ext cx="10775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latin typeface="+mj-lt"/>
              </a:rPr>
              <a:t>개발 후기</a:t>
            </a:r>
            <a:endParaRPr lang="ko-KR" altLang="en-US" sz="1600" b="1" dirty="0">
              <a:latin typeface="+mj-l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85521" y="3810778"/>
            <a:ext cx="2516623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/>
              <a:t>화면 이미지 전송 시 데이터 손실이 없어야 할거라 생각해서 </a:t>
            </a:r>
            <a:r>
              <a:rPr lang="en-US" altLang="ko-KR" sz="1100" dirty="0" smtClean="0"/>
              <a:t>TCP</a:t>
            </a:r>
            <a:r>
              <a:rPr lang="ko-KR" altLang="en-US" sz="1100" dirty="0" smtClean="0"/>
              <a:t>로 구현을 했지만 </a:t>
            </a:r>
            <a:r>
              <a:rPr lang="en-US" altLang="ko-KR" sz="1100" dirty="0" smtClean="0"/>
              <a:t>RTP, RTCP</a:t>
            </a:r>
            <a:r>
              <a:rPr lang="ko-KR" altLang="en-US" sz="1100" dirty="0" smtClean="0"/>
              <a:t>같은 실시간 통신 프로토콜은 </a:t>
            </a:r>
            <a:r>
              <a:rPr lang="en-US" altLang="ko-KR" sz="1100" dirty="0" smtClean="0"/>
              <a:t>UDP</a:t>
            </a:r>
            <a:r>
              <a:rPr lang="ko-KR" altLang="en-US" sz="1100" dirty="0" smtClean="0"/>
              <a:t>를 </a:t>
            </a:r>
            <a:r>
              <a:rPr lang="ko-KR" altLang="en-US" sz="1100" dirty="0" err="1" smtClean="0"/>
              <a:t>사용한다는것을</a:t>
            </a:r>
            <a:r>
              <a:rPr lang="ko-KR" altLang="en-US" sz="1100" dirty="0" smtClean="0"/>
              <a:t> 알았다</a:t>
            </a:r>
            <a:r>
              <a:rPr lang="en-US" altLang="ko-KR" sz="1100" dirty="0" smtClean="0"/>
              <a:t>.</a:t>
            </a:r>
          </a:p>
          <a:p>
            <a:r>
              <a:rPr lang="ko-KR" altLang="en-US" sz="1100" dirty="0" smtClean="0"/>
              <a:t>마우스 전송 구현에서는 </a:t>
            </a:r>
            <a:r>
              <a:rPr lang="en-US" altLang="ko-KR" sz="1100" dirty="0" smtClean="0"/>
              <a:t>TCP</a:t>
            </a:r>
            <a:r>
              <a:rPr lang="ko-KR" altLang="en-US" sz="1100" dirty="0" smtClean="0"/>
              <a:t>로 </a:t>
            </a:r>
            <a:r>
              <a:rPr lang="ko-KR" altLang="en-US" sz="1100" dirty="0" err="1" smtClean="0"/>
              <a:t>구현했을때</a:t>
            </a:r>
            <a:r>
              <a:rPr lang="ko-KR" altLang="en-US" sz="1100" dirty="0" err="1" smtClean="0"/>
              <a:t>보다</a:t>
            </a:r>
            <a:r>
              <a:rPr lang="ko-KR" altLang="en-US" sz="1100" dirty="0" smtClean="0"/>
              <a:t> </a:t>
            </a:r>
            <a:r>
              <a:rPr lang="en-US" altLang="ko-KR" sz="1100" dirty="0" smtClean="0"/>
              <a:t>UDP</a:t>
            </a:r>
            <a:r>
              <a:rPr lang="ko-KR" altLang="en-US" sz="1100" dirty="0" smtClean="0"/>
              <a:t>로 </a:t>
            </a:r>
            <a:r>
              <a:rPr lang="ko-KR" altLang="en-US" sz="1100" dirty="0" err="1" smtClean="0"/>
              <a:t>구현했을때</a:t>
            </a:r>
            <a:r>
              <a:rPr lang="ko-KR" altLang="en-US" sz="1100" dirty="0" smtClean="0"/>
              <a:t> 자연스러운 움직임이 가능했다</a:t>
            </a:r>
            <a:r>
              <a:rPr lang="en-US" altLang="ko-KR" sz="1100" dirty="0" smtClean="0"/>
              <a:t>. </a:t>
            </a:r>
            <a:r>
              <a:rPr lang="ko-KR" altLang="en-US" sz="1100" dirty="0" smtClean="0"/>
              <a:t>움직임에 따른 </a:t>
            </a:r>
            <a:r>
              <a:rPr lang="ko-KR" altLang="en-US" sz="1100" dirty="0" err="1" smtClean="0"/>
              <a:t>전송량이</a:t>
            </a:r>
            <a:r>
              <a:rPr lang="ko-KR" altLang="en-US" sz="1100" dirty="0" smtClean="0"/>
              <a:t> </a:t>
            </a:r>
            <a:r>
              <a:rPr lang="ko-KR" altLang="en-US" sz="1100" dirty="0" err="1" smtClean="0"/>
              <a:t>많다보니</a:t>
            </a:r>
            <a:r>
              <a:rPr lang="ko-KR" altLang="en-US" sz="1100" dirty="0" smtClean="0"/>
              <a:t> 데이터 손실이 </a:t>
            </a:r>
            <a:r>
              <a:rPr lang="ko-KR" altLang="en-US" sz="1100" dirty="0" err="1" smtClean="0"/>
              <a:t>되는것이</a:t>
            </a:r>
            <a:r>
              <a:rPr lang="ko-KR" altLang="en-US" sz="1100" dirty="0" smtClean="0"/>
              <a:t> 오히려 </a:t>
            </a:r>
            <a:r>
              <a:rPr lang="ko-KR" altLang="en-US" sz="1100" dirty="0" err="1" smtClean="0"/>
              <a:t>좋은점이</a:t>
            </a:r>
            <a:r>
              <a:rPr lang="ko-KR" altLang="en-US" sz="1100" dirty="0" smtClean="0"/>
              <a:t> </a:t>
            </a:r>
            <a:r>
              <a:rPr lang="ko-KR" altLang="en-US" sz="1100" dirty="0" err="1" smtClean="0"/>
              <a:t>있을때가</a:t>
            </a:r>
            <a:r>
              <a:rPr lang="ko-KR" altLang="en-US" sz="1100" dirty="0" smtClean="0"/>
              <a:t> </a:t>
            </a:r>
            <a:r>
              <a:rPr lang="ko-KR" altLang="en-US" sz="1100" dirty="0" err="1" smtClean="0"/>
              <a:t>있다는것을</a:t>
            </a:r>
            <a:r>
              <a:rPr lang="ko-KR" altLang="en-US" sz="1100" dirty="0" smtClean="0"/>
              <a:t> 알았다</a:t>
            </a:r>
            <a:r>
              <a:rPr lang="en-US" altLang="ko-KR" sz="1100" dirty="0" smtClean="0"/>
              <a:t>.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160940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35A6ADA2-66F6-0F4C-9F59-368ABC42589E}"/>
              </a:ext>
            </a:extLst>
          </p:cNvPr>
          <p:cNvSpPr/>
          <p:nvPr/>
        </p:nvSpPr>
        <p:spPr>
          <a:xfrm>
            <a:off x="346744" y="250849"/>
            <a:ext cx="11369040" cy="6294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9000000" sx="101000" sy="101000" algn="tl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smtClean="0"/>
              <a:t>d</a:t>
            </a:r>
            <a:endParaRPr kumimoji="1" lang="ko-KR" altLang="en-US" dirty="0"/>
          </a:p>
        </p:txBody>
      </p:sp>
      <p:cxnSp>
        <p:nvCxnSpPr>
          <p:cNvPr id="3" name="직선 연결선[R] 2">
            <a:extLst>
              <a:ext uri="{FF2B5EF4-FFF2-40B4-BE49-F238E27FC236}">
                <a16:creationId xmlns:a16="http://schemas.microsoft.com/office/drawing/2014/main" xmlns="" id="{8085FF43-4C1F-FA47-9A5D-72F735A38D0E}"/>
              </a:ext>
            </a:extLst>
          </p:cNvPr>
          <p:cNvCxnSpPr/>
          <p:nvPr/>
        </p:nvCxnSpPr>
        <p:spPr>
          <a:xfrm>
            <a:off x="346744" y="1005840"/>
            <a:ext cx="2752506" cy="0"/>
          </a:xfrm>
          <a:prstGeom prst="line">
            <a:avLst/>
          </a:prstGeom>
          <a:ln w="34925">
            <a:solidFill>
              <a:schemeClr val="accent5">
                <a:alpha val="6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BD0E6124-74E3-8F48-967E-DADFED2ABDE4}"/>
              </a:ext>
            </a:extLst>
          </p:cNvPr>
          <p:cNvSpPr txBox="1"/>
          <p:nvPr/>
        </p:nvSpPr>
        <p:spPr>
          <a:xfrm>
            <a:off x="1505444" y="630936"/>
            <a:ext cx="1755647" cy="374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err="1" smtClean="0"/>
              <a:t>RemoteProject</a:t>
            </a:r>
            <a:endParaRPr kumimoji="1"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485522" y="2015872"/>
            <a:ext cx="25166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charset="0"/>
              <a:buChar char="•"/>
            </a:pPr>
            <a:endParaRPr lang="en-US" altLang="ko-KR" sz="1100" dirty="0"/>
          </a:p>
          <a:p>
            <a:pPr marL="171450" indent="-171450">
              <a:buFont typeface="Arial" charset="0"/>
              <a:buChar char="•"/>
            </a:pPr>
            <a:r>
              <a:rPr lang="ko-KR" altLang="en-US" sz="1100" dirty="0" smtClean="0"/>
              <a:t>언어</a:t>
            </a:r>
            <a:r>
              <a:rPr lang="en-US" altLang="ko-KR" sz="1100" dirty="0" smtClean="0"/>
              <a:t>: Java</a:t>
            </a:r>
          </a:p>
          <a:p>
            <a:endParaRPr lang="en-US" altLang="ko-KR" sz="1100" dirty="0" smtClean="0"/>
          </a:p>
          <a:p>
            <a:pPr marL="171450" indent="-171450">
              <a:buFont typeface="Arial" charset="0"/>
              <a:buChar char="•"/>
            </a:pPr>
            <a:r>
              <a:rPr lang="ko-KR" altLang="en-US" sz="1100" dirty="0" smtClean="0"/>
              <a:t>도구</a:t>
            </a:r>
            <a:r>
              <a:rPr lang="en-US" altLang="ko-KR" sz="1100" dirty="0" smtClean="0"/>
              <a:t>: Eclipse</a:t>
            </a:r>
          </a:p>
          <a:p>
            <a:pPr marL="171450" indent="-171450">
              <a:buFont typeface="Arial" charset="0"/>
              <a:buChar char="•"/>
            </a:pPr>
            <a:endParaRPr lang="en-US" altLang="ko-KR" sz="1100" dirty="0"/>
          </a:p>
          <a:p>
            <a:pPr marL="171450" indent="-171450">
              <a:buFont typeface="Arial" charset="0"/>
              <a:buChar char="•"/>
            </a:pPr>
            <a:r>
              <a:rPr lang="ko-KR" altLang="en-US" sz="1100" dirty="0" smtClean="0"/>
              <a:t>개발 환경</a:t>
            </a:r>
            <a:r>
              <a:rPr lang="en-US" altLang="ko-KR" sz="1100" dirty="0" smtClean="0"/>
              <a:t>: Windows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5522" y="1677318"/>
            <a:ext cx="10775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latin typeface="+mj-lt"/>
              </a:rPr>
              <a:t>사용 기술</a:t>
            </a:r>
            <a:endParaRPr lang="ko-KR" altLang="en-US" sz="1600" b="1" dirty="0"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14838" y="998162"/>
            <a:ext cx="24000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latin typeface="+mj-lt"/>
              </a:rPr>
              <a:t>Server-Client </a:t>
            </a:r>
            <a:r>
              <a:rPr lang="ko-KR" altLang="en-US" sz="1600" b="1" dirty="0" smtClean="0">
                <a:latin typeface="+mj-lt"/>
              </a:rPr>
              <a:t>채팅 화면</a:t>
            </a:r>
            <a:endParaRPr lang="ko-KR" altLang="en-US" sz="1600" b="1" dirty="0">
              <a:latin typeface="+mj-lt"/>
            </a:endParaRPr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4838" y="1677318"/>
            <a:ext cx="2762885" cy="3797300"/>
          </a:xfrm>
          <a:prstGeom prst="rect">
            <a:avLst/>
          </a:prstGeom>
          <a:noFill/>
        </p:spPr>
      </p:pic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418" y="1691288"/>
            <a:ext cx="2748915" cy="377634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21651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35A6ADA2-66F6-0F4C-9F59-368ABC42589E}"/>
              </a:ext>
            </a:extLst>
          </p:cNvPr>
          <p:cNvSpPr/>
          <p:nvPr/>
        </p:nvSpPr>
        <p:spPr>
          <a:xfrm>
            <a:off x="346744" y="250849"/>
            <a:ext cx="11369040" cy="6294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9000000" sx="101000" sy="101000" algn="tl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smtClean="0"/>
              <a:t>d</a:t>
            </a:r>
            <a:endParaRPr kumimoji="1" lang="ko-KR" altLang="en-US" dirty="0"/>
          </a:p>
        </p:txBody>
      </p:sp>
      <p:cxnSp>
        <p:nvCxnSpPr>
          <p:cNvPr id="3" name="직선 연결선[R] 2">
            <a:extLst>
              <a:ext uri="{FF2B5EF4-FFF2-40B4-BE49-F238E27FC236}">
                <a16:creationId xmlns:a16="http://schemas.microsoft.com/office/drawing/2014/main" xmlns="" id="{8085FF43-4C1F-FA47-9A5D-72F735A38D0E}"/>
              </a:ext>
            </a:extLst>
          </p:cNvPr>
          <p:cNvCxnSpPr/>
          <p:nvPr/>
        </p:nvCxnSpPr>
        <p:spPr>
          <a:xfrm>
            <a:off x="346744" y="1005840"/>
            <a:ext cx="2752506" cy="0"/>
          </a:xfrm>
          <a:prstGeom prst="line">
            <a:avLst/>
          </a:prstGeom>
          <a:ln w="34925">
            <a:solidFill>
              <a:schemeClr val="accent5">
                <a:alpha val="6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BD0E6124-74E3-8F48-967E-DADFED2ABDE4}"/>
              </a:ext>
            </a:extLst>
          </p:cNvPr>
          <p:cNvSpPr txBox="1"/>
          <p:nvPr/>
        </p:nvSpPr>
        <p:spPr>
          <a:xfrm>
            <a:off x="1505444" y="630936"/>
            <a:ext cx="1755647" cy="374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err="1" smtClean="0"/>
              <a:t>RemoteProject</a:t>
            </a:r>
            <a:endParaRPr kumimoji="1"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485522" y="2015872"/>
            <a:ext cx="25166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charset="0"/>
              <a:buChar char="•"/>
            </a:pPr>
            <a:endParaRPr lang="en-US" altLang="ko-KR" sz="1100" b="1" spc="-30" dirty="0" smtClean="0">
              <a:solidFill>
                <a:srgbClr val="00B0F0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171450" indent="-171450">
              <a:buFont typeface="Arial" charset="0"/>
              <a:buChar char="•"/>
            </a:pPr>
            <a:r>
              <a:rPr lang="en-US" altLang="ko-KR" sz="1100" b="1" spc="-30" dirty="0" smtClean="0">
                <a:solidFill>
                  <a:srgbClr val="00B0F0"/>
                </a:solidFill>
                <a:latin typeface="Malgun Gothic" panose="020B0503020000020004" pitchFamily="34" charset="-127"/>
                <a:ea typeface="Malgun Gothic" panose="020B0503020000020004" pitchFamily="34" charset="-127"/>
                <a:hlinkClick r:id="rId2"/>
              </a:rPr>
              <a:t>https</a:t>
            </a:r>
            <a:r>
              <a:rPr lang="en-US" altLang="ko-KR" sz="1100" b="1" spc="-30" dirty="0">
                <a:solidFill>
                  <a:srgbClr val="00B0F0"/>
                </a:solidFill>
                <a:latin typeface="Malgun Gothic" panose="020B0503020000020004" pitchFamily="34" charset="-127"/>
                <a:ea typeface="Malgun Gothic" panose="020B0503020000020004" pitchFamily="34" charset="-127"/>
                <a:hlinkClick r:id="rId2"/>
              </a:rPr>
              <a:t>://youtu.be/UQOiB6lzQzw</a:t>
            </a:r>
            <a:endParaRPr lang="en-US" altLang="ko-KR" sz="1100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485522" y="1677318"/>
            <a:ext cx="10775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latin typeface="+mj-lt"/>
              </a:rPr>
              <a:t>구현 영상</a:t>
            </a:r>
            <a:endParaRPr lang="ko-KR" altLang="en-US" sz="1600" b="1" dirty="0"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14838" y="998162"/>
            <a:ext cx="24000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latin typeface="+mj-lt"/>
              </a:rPr>
              <a:t>Server-Client </a:t>
            </a:r>
            <a:r>
              <a:rPr lang="ko-KR" altLang="en-US" sz="1600" b="1" dirty="0" smtClean="0">
                <a:latin typeface="+mj-lt"/>
              </a:rPr>
              <a:t>영</a:t>
            </a:r>
            <a:r>
              <a:rPr lang="ko-KR" altLang="en-US" sz="1600" b="1" dirty="0">
                <a:latin typeface="+mj-lt"/>
              </a:rPr>
              <a:t>상</a:t>
            </a:r>
            <a:r>
              <a:rPr lang="ko-KR" altLang="en-US" sz="1600" b="1" dirty="0" smtClean="0">
                <a:latin typeface="+mj-lt"/>
              </a:rPr>
              <a:t> 화면</a:t>
            </a:r>
            <a:endParaRPr lang="ko-KR" altLang="en-US" sz="1600" b="1" dirty="0">
              <a:latin typeface="+mj-lt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4838" y="1682398"/>
            <a:ext cx="6510020" cy="3792220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485522" y="2800369"/>
            <a:ext cx="4667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err="1" smtClean="0">
                <a:latin typeface="+mj-lt"/>
              </a:rPr>
              <a:t>Git</a:t>
            </a:r>
            <a:endParaRPr lang="ko-KR" altLang="en-US" sz="1600" b="1" dirty="0"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3465" y="3182465"/>
            <a:ext cx="255578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charset="0"/>
              <a:buChar char="•"/>
            </a:pPr>
            <a:endParaRPr lang="en-US" altLang="ko-KR" sz="1100" b="1" spc="-30" dirty="0" smtClean="0">
              <a:solidFill>
                <a:srgbClr val="00B0F0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171450" indent="-171450" eaLnBrk="0">
              <a:buFont typeface="Arial" charset="0"/>
              <a:buChar char="•"/>
            </a:pPr>
            <a:r>
              <a:rPr lang="en-US" altLang="ko-KR" sz="1100" b="1" spc="-30" dirty="0" smtClean="0">
                <a:solidFill>
                  <a:srgbClr val="00B0F0"/>
                </a:solidFill>
                <a:latin typeface="Malgun Gothic" panose="020B0503020000020004" pitchFamily="34" charset="-127"/>
                <a:ea typeface="Malgun Gothic" panose="020B0503020000020004" pitchFamily="34" charset="-127"/>
                <a:hlinkClick r:id="rId4"/>
              </a:rPr>
              <a:t>https</a:t>
            </a:r>
            <a:r>
              <a:rPr lang="en-US" altLang="ko-KR" sz="1100" b="1" spc="-30" dirty="0">
                <a:solidFill>
                  <a:srgbClr val="00B0F0"/>
                </a:solidFill>
                <a:latin typeface="Malgun Gothic" panose="020B0503020000020004" pitchFamily="34" charset="-127"/>
                <a:ea typeface="Malgun Gothic" panose="020B0503020000020004" pitchFamily="34" charset="-127"/>
                <a:hlinkClick r:id="rId4"/>
              </a:rPr>
              <a:t>://</a:t>
            </a:r>
            <a:r>
              <a:rPr lang="en-US" altLang="ko-KR" sz="1100" b="1" spc="-30" dirty="0" smtClean="0">
                <a:solidFill>
                  <a:srgbClr val="00B0F0"/>
                </a:solidFill>
                <a:latin typeface="Malgun Gothic" panose="020B0503020000020004" pitchFamily="34" charset="-127"/>
                <a:ea typeface="Malgun Gothic" panose="020B0503020000020004" pitchFamily="34" charset="-127"/>
                <a:hlinkClick r:id="rId4"/>
              </a:rPr>
              <a:t>github.com/Guyclops/RemoteProject</a:t>
            </a:r>
            <a:endParaRPr lang="en-US" altLang="ko-KR" sz="1100" b="1" spc="-30" dirty="0" smtClean="0">
              <a:solidFill>
                <a:srgbClr val="00B0F0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8259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35A6ADA2-66F6-0F4C-9F59-368ABC42589E}"/>
              </a:ext>
            </a:extLst>
          </p:cNvPr>
          <p:cNvSpPr/>
          <p:nvPr/>
        </p:nvSpPr>
        <p:spPr>
          <a:xfrm>
            <a:off x="346744" y="250849"/>
            <a:ext cx="11369040" cy="6294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9000000" sx="101000" sy="101000" algn="tl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smtClean="0"/>
              <a:t>d</a:t>
            </a:r>
            <a:endParaRPr kumimoji="1" lang="ko-KR" altLang="en-US" dirty="0"/>
          </a:p>
        </p:txBody>
      </p:sp>
      <p:cxnSp>
        <p:nvCxnSpPr>
          <p:cNvPr id="3" name="직선 연결선[R] 2">
            <a:extLst>
              <a:ext uri="{FF2B5EF4-FFF2-40B4-BE49-F238E27FC236}">
                <a16:creationId xmlns:a16="http://schemas.microsoft.com/office/drawing/2014/main" xmlns="" id="{8085FF43-4C1F-FA47-9A5D-72F735A38D0E}"/>
              </a:ext>
            </a:extLst>
          </p:cNvPr>
          <p:cNvCxnSpPr/>
          <p:nvPr/>
        </p:nvCxnSpPr>
        <p:spPr>
          <a:xfrm>
            <a:off x="346744" y="1005840"/>
            <a:ext cx="2752506" cy="0"/>
          </a:xfrm>
          <a:prstGeom prst="line">
            <a:avLst/>
          </a:prstGeom>
          <a:ln w="34925">
            <a:solidFill>
              <a:schemeClr val="accent5">
                <a:alpha val="6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BD0E6124-74E3-8F48-967E-DADFED2ABDE4}"/>
              </a:ext>
            </a:extLst>
          </p:cNvPr>
          <p:cNvSpPr txBox="1"/>
          <p:nvPr/>
        </p:nvSpPr>
        <p:spPr>
          <a:xfrm>
            <a:off x="2221426" y="613745"/>
            <a:ext cx="1755647" cy="374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smtClean="0"/>
              <a:t>Project</a:t>
            </a:r>
            <a:endParaRPr kumimoji="1"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C78FC71B-3473-0340-A49E-80A68AF8457B}"/>
              </a:ext>
            </a:extLst>
          </p:cNvPr>
          <p:cNvSpPr txBox="1"/>
          <p:nvPr/>
        </p:nvSpPr>
        <p:spPr>
          <a:xfrm>
            <a:off x="2600841" y="3074743"/>
            <a:ext cx="68608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2400" b="1" dirty="0" smtClean="0">
                <a:latin typeface="+mj-lt"/>
              </a:rPr>
              <a:t>Observer </a:t>
            </a:r>
            <a:r>
              <a:rPr kumimoji="1" lang="en-US" altLang="ko-KR" sz="2400" b="1" dirty="0">
                <a:latin typeface="+mj-lt"/>
              </a:rPr>
              <a:t>– </a:t>
            </a:r>
            <a:r>
              <a:rPr kumimoji="1" lang="ko-KR" altLang="en-US" sz="2400" b="1" dirty="0"/>
              <a:t>공유 </a:t>
            </a:r>
            <a:r>
              <a:rPr kumimoji="1" lang="ko-KR" altLang="en-US" sz="2400" b="1" dirty="0" err="1"/>
              <a:t>디렉토리</a:t>
            </a:r>
            <a:r>
              <a:rPr kumimoji="1" lang="ko-KR" altLang="en-US" sz="2400" b="1" dirty="0"/>
              <a:t> 로그 기록 프로그램</a:t>
            </a:r>
            <a:endParaRPr kumimoji="1" lang="en-US" alt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2589372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35A6ADA2-66F6-0F4C-9F59-368ABC42589E}"/>
              </a:ext>
            </a:extLst>
          </p:cNvPr>
          <p:cNvSpPr/>
          <p:nvPr/>
        </p:nvSpPr>
        <p:spPr>
          <a:xfrm>
            <a:off x="346744" y="250849"/>
            <a:ext cx="11369040" cy="6294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9000000" sx="101000" sy="101000" algn="tl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smtClean="0"/>
              <a:t>d</a:t>
            </a:r>
            <a:endParaRPr kumimoji="1" lang="ko-KR" altLang="en-US" dirty="0"/>
          </a:p>
        </p:txBody>
      </p:sp>
      <p:cxnSp>
        <p:nvCxnSpPr>
          <p:cNvPr id="3" name="직선 연결선[R] 2">
            <a:extLst>
              <a:ext uri="{FF2B5EF4-FFF2-40B4-BE49-F238E27FC236}">
                <a16:creationId xmlns:a16="http://schemas.microsoft.com/office/drawing/2014/main" xmlns="" id="{8085FF43-4C1F-FA47-9A5D-72F735A38D0E}"/>
              </a:ext>
            </a:extLst>
          </p:cNvPr>
          <p:cNvCxnSpPr/>
          <p:nvPr/>
        </p:nvCxnSpPr>
        <p:spPr>
          <a:xfrm>
            <a:off x="346744" y="1005840"/>
            <a:ext cx="2752506" cy="0"/>
          </a:xfrm>
          <a:prstGeom prst="line">
            <a:avLst/>
          </a:prstGeom>
          <a:ln w="34925">
            <a:solidFill>
              <a:schemeClr val="accent5">
                <a:alpha val="6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BD0E6124-74E3-8F48-967E-DADFED2ABDE4}"/>
              </a:ext>
            </a:extLst>
          </p:cNvPr>
          <p:cNvSpPr txBox="1"/>
          <p:nvPr/>
        </p:nvSpPr>
        <p:spPr>
          <a:xfrm>
            <a:off x="2023335" y="630936"/>
            <a:ext cx="1189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smtClean="0"/>
              <a:t>Observer</a:t>
            </a:r>
            <a:endParaRPr kumimoji="1"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485522" y="2023329"/>
            <a:ext cx="2516623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대학생 시절 </a:t>
            </a:r>
            <a:r>
              <a:rPr lang="en-US" altLang="ko-KR" sz="11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리눅스시스템프로그래밍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1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시간에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1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교수님이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1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해주시던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1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옛날얘기를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1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듣고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1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만들게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1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되었다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. </a:t>
            </a:r>
            <a:endParaRPr lang="en-US" altLang="ko-KR" sz="1100" dirty="0" smtClean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r>
              <a:rPr lang="en-US" altLang="ko-KR" sz="1100" dirty="0" err="1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교수님은</a:t>
            </a:r>
            <a:r>
              <a:rPr lang="en-US" altLang="ko-KR" sz="110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1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과제제출을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1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공용디렉토리인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/</a:t>
            </a:r>
            <a:r>
              <a:rPr lang="en-US" altLang="ko-KR" sz="11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tmp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1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디렉토리에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1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파일을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1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올려서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1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누가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1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제일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1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짧은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1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코드로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1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짯는지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100" dirty="0" err="1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비교했</a:t>
            </a:r>
            <a:r>
              <a:rPr lang="ko-KR" altLang="en-US" sz="1100" dirty="0" err="1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었</a:t>
            </a:r>
            <a:r>
              <a:rPr lang="en-US" altLang="ko-KR" sz="1100" dirty="0" err="1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다고</a:t>
            </a:r>
            <a:r>
              <a:rPr lang="en-US" altLang="ko-KR" sz="110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1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한다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. </a:t>
            </a:r>
            <a:endParaRPr lang="en-US" altLang="ko-KR" sz="1100" dirty="0" smtClean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r>
              <a:rPr lang="en-US" altLang="ko-KR" sz="1100" dirty="0" err="1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이를</a:t>
            </a:r>
            <a:r>
              <a:rPr lang="en-US" altLang="ko-KR" sz="110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1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바탕으로해서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1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공용디렉토리가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1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있다면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이 </a:t>
            </a:r>
            <a:r>
              <a:rPr lang="en-US" altLang="ko-KR" sz="11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안에서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1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누가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1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어떤작업을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1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했는지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1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로그를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1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기록하는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1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프로세스를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1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만들어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1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보기로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1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생각했다</a:t>
            </a:r>
            <a:r>
              <a:rPr lang="en-US" altLang="ko-KR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.</a:t>
            </a:r>
            <a:endParaRPr lang="ko-KR" altLang="en-US" sz="1100" dirty="0"/>
          </a:p>
        </p:txBody>
      </p:sp>
      <p:sp>
        <p:nvSpPr>
          <p:cNvPr id="4" name="TextBox 3"/>
          <p:cNvSpPr txBox="1"/>
          <p:nvPr/>
        </p:nvSpPr>
        <p:spPr>
          <a:xfrm>
            <a:off x="485522" y="1677318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latin typeface="+mj-lt"/>
              </a:rPr>
              <a:t>개요</a:t>
            </a:r>
            <a:endParaRPr lang="ko-KR" altLang="en-US" sz="1600" b="1" dirty="0"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14838" y="998162"/>
            <a:ext cx="16930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latin typeface="+mj-lt"/>
              </a:rPr>
              <a:t>프로세스 순서도</a:t>
            </a:r>
            <a:endParaRPr lang="ko-KR" altLang="en-US" sz="1600" b="1" dirty="0">
              <a:latin typeface="+mj-lt"/>
            </a:endParaRPr>
          </a:p>
        </p:txBody>
      </p:sp>
      <p:pic>
        <p:nvPicPr>
          <p:cNvPr id="29" name="그림 28" descr="C:/Users/kosmo_21/AppData/Roaming/PolarisOffice/ETemp/6528_3547392/fImage1990792741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17636" y="1409544"/>
            <a:ext cx="3942080" cy="4906010"/>
          </a:xfrm>
          <a:prstGeom prst="rect">
            <a:avLst/>
          </a:prstGeom>
          <a:noFill/>
          <a:ln w="0">
            <a:solidFill>
              <a:schemeClr val="tx1"/>
            </a:solidFill>
            <a:prstDash/>
          </a:ln>
        </p:spPr>
      </p:pic>
    </p:spTree>
    <p:extLst>
      <p:ext uri="{BB962C8B-B14F-4D97-AF65-F5344CB8AC3E}">
        <p14:creationId xmlns:p14="http://schemas.microsoft.com/office/powerpoint/2010/main" val="1736050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35A6ADA2-66F6-0F4C-9F59-368ABC42589E}"/>
              </a:ext>
            </a:extLst>
          </p:cNvPr>
          <p:cNvSpPr/>
          <p:nvPr/>
        </p:nvSpPr>
        <p:spPr>
          <a:xfrm>
            <a:off x="346744" y="250849"/>
            <a:ext cx="11369040" cy="6294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9000000" sx="101000" sy="101000" algn="tl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smtClean="0"/>
              <a:t>d</a:t>
            </a:r>
            <a:endParaRPr kumimoji="1" lang="ko-KR" altLang="en-US" dirty="0"/>
          </a:p>
        </p:txBody>
      </p:sp>
      <p:cxnSp>
        <p:nvCxnSpPr>
          <p:cNvPr id="3" name="직선 연결선[R] 2">
            <a:extLst>
              <a:ext uri="{FF2B5EF4-FFF2-40B4-BE49-F238E27FC236}">
                <a16:creationId xmlns:a16="http://schemas.microsoft.com/office/drawing/2014/main" xmlns="" id="{8085FF43-4C1F-FA47-9A5D-72F735A38D0E}"/>
              </a:ext>
            </a:extLst>
          </p:cNvPr>
          <p:cNvCxnSpPr/>
          <p:nvPr/>
        </p:nvCxnSpPr>
        <p:spPr>
          <a:xfrm>
            <a:off x="346744" y="1005840"/>
            <a:ext cx="2752506" cy="0"/>
          </a:xfrm>
          <a:prstGeom prst="line">
            <a:avLst/>
          </a:prstGeom>
          <a:ln w="34925">
            <a:solidFill>
              <a:schemeClr val="accent5">
                <a:alpha val="6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BD0E6124-74E3-8F48-967E-DADFED2ABDE4}"/>
              </a:ext>
            </a:extLst>
          </p:cNvPr>
          <p:cNvSpPr txBox="1"/>
          <p:nvPr/>
        </p:nvSpPr>
        <p:spPr>
          <a:xfrm>
            <a:off x="2023335" y="630936"/>
            <a:ext cx="1189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smtClean="0"/>
              <a:t>Observer</a:t>
            </a:r>
            <a:endParaRPr kumimoji="1"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85522" y="1677318"/>
            <a:ext cx="10775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latin typeface="+mj-lt"/>
              </a:rPr>
              <a:t>사용 기술</a:t>
            </a:r>
            <a:endParaRPr lang="ko-KR" altLang="en-US" sz="1600" b="1" dirty="0"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14838" y="998162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latin typeface="+mj-lt"/>
              </a:rPr>
              <a:t>프로세스</a:t>
            </a:r>
            <a:endParaRPr lang="ko-KR" altLang="en-US" sz="1600" b="1" dirty="0"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5522" y="2015872"/>
            <a:ext cx="280137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charset="0"/>
              <a:buChar char="•"/>
            </a:pPr>
            <a:endParaRPr lang="en-US" altLang="ko-KR" sz="1100" dirty="0"/>
          </a:p>
          <a:p>
            <a:pPr marL="171450" indent="-171450">
              <a:buFont typeface="Arial" charset="0"/>
              <a:buChar char="•"/>
            </a:pPr>
            <a:r>
              <a:rPr lang="ko-KR" altLang="en-US" sz="1100" dirty="0" smtClean="0"/>
              <a:t>언어</a:t>
            </a:r>
            <a:r>
              <a:rPr lang="en-US" altLang="ko-KR" sz="1100" dirty="0" smtClean="0"/>
              <a:t>: </a:t>
            </a:r>
            <a:r>
              <a:rPr lang="en-US" altLang="ko-KR" sz="1100" dirty="0"/>
              <a:t>C</a:t>
            </a:r>
            <a:endParaRPr lang="en-US" altLang="ko-KR" sz="1100" dirty="0" smtClean="0"/>
          </a:p>
          <a:p>
            <a:endParaRPr lang="en-US" altLang="ko-KR" sz="1100" dirty="0" smtClean="0"/>
          </a:p>
          <a:p>
            <a:pPr marL="171450" indent="-171450">
              <a:buFont typeface="Arial" charset="0"/>
              <a:buChar char="•"/>
            </a:pPr>
            <a:r>
              <a:rPr lang="ko-KR" altLang="en-US" sz="1100" dirty="0" smtClean="0"/>
              <a:t>도구</a:t>
            </a:r>
            <a:r>
              <a:rPr lang="en-US" altLang="ko-KR" sz="1100" dirty="0" smtClean="0"/>
              <a:t>: </a:t>
            </a:r>
            <a:r>
              <a:rPr lang="en-US" altLang="ko-KR" sz="1100" dirty="0" smtClean="0"/>
              <a:t>Vim</a:t>
            </a:r>
            <a:endParaRPr lang="en-US" altLang="ko-KR" sz="1100" dirty="0"/>
          </a:p>
          <a:p>
            <a:pPr marL="171450" indent="-171450">
              <a:buFont typeface="Arial" charset="0"/>
              <a:buChar char="•"/>
            </a:pPr>
            <a:endParaRPr lang="en-US" altLang="ko-KR" sz="1100" dirty="0" smtClean="0"/>
          </a:p>
          <a:p>
            <a:pPr marL="171450" indent="-171450">
              <a:buFont typeface="Arial" charset="0"/>
              <a:buChar char="•"/>
            </a:pPr>
            <a:r>
              <a:rPr lang="ko-KR" altLang="en-US" sz="1100" dirty="0" smtClean="0"/>
              <a:t>개발 </a:t>
            </a:r>
            <a:r>
              <a:rPr lang="ko-KR" altLang="en-US" sz="1100" dirty="0" smtClean="0"/>
              <a:t>환경</a:t>
            </a:r>
            <a:r>
              <a:rPr lang="en-US" altLang="ko-KR" sz="1100" dirty="0" smtClean="0"/>
              <a:t>: </a:t>
            </a:r>
            <a:r>
              <a:rPr lang="en-US" altLang="ko-KR" sz="1100" dirty="0">
                <a:solidFill>
                  <a:srgbClr val="000000"/>
                </a:solidFill>
                <a:latin typeface="맑은 고딕" charset="0"/>
                <a:ea typeface="맑은 고딕" charset="0"/>
              </a:rPr>
              <a:t>Fedora 19(Linux kernel 3.10)</a:t>
            </a:r>
            <a:endParaRPr lang="ko-KR" altLang="en-US" sz="1100" dirty="0">
              <a:solidFill>
                <a:srgbClr val="000000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0" name="직사각형 9"/>
          <p:cNvSpPr>
            <a:spLocks/>
          </p:cNvSpPr>
          <p:nvPr/>
        </p:nvSpPr>
        <p:spPr>
          <a:xfrm>
            <a:off x="3414838" y="1298695"/>
            <a:ext cx="4321810" cy="3600986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000" b="0" cap="none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1) ssu_daemon</a:t>
            </a:r>
            <a:endParaRPr lang="ko-KR" altLang="en-US" sz="1000" b="0" cap="none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 algn="just" defTabSz="508000" fontAlgn="auto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FontTx/>
              <a:buNone/>
            </a:pPr>
            <a:r>
              <a:rPr lang="ko-KR" altLang="en-US" sz="100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기</a:t>
            </a:r>
            <a:r>
              <a:rPr lang="ko-KR" altLang="en-US" sz="1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능</a:t>
            </a:r>
            <a:r>
              <a:rPr lang="en-US" altLang="ko-KR" sz="1000" b="0" cap="none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000" b="0" cap="none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: 데몬 프로세스이고 지정된 폴더 ‘/ttmp’를 감시하며 생성, 삭제, 수정에대한 이벤트를 감시하고 기록한다. (일반 유저는 홈디렉토리/syslog에 root면 /syslog에 기록) 또한 ssu_client와 IPC를 할 수 </a:t>
            </a:r>
            <a:r>
              <a:rPr lang="ko-KR" altLang="en-US" sz="1000" b="0" cap="none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있다</a:t>
            </a:r>
            <a:r>
              <a:rPr lang="en-US" altLang="ko-KR" sz="1000" b="0" cap="none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.</a:t>
            </a:r>
          </a:p>
          <a:p>
            <a:pPr marL="0" indent="0" algn="just" defTabSz="508000" fontAlgn="auto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FontTx/>
              <a:buNone/>
            </a:pPr>
            <a:r>
              <a:rPr lang="ko-KR" altLang="en-US" sz="100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구</a:t>
            </a:r>
            <a:r>
              <a:rPr lang="ko-KR" altLang="en-US" sz="1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현</a:t>
            </a:r>
            <a:r>
              <a:rPr lang="en-US" altLang="ko-KR" sz="1000" b="0" cap="none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000" b="0" cap="none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: </a:t>
            </a:r>
            <a:r>
              <a:rPr lang="en-US" altLang="ko-KR" sz="1000" b="0" cap="none" dirty="0" err="1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데몬</a:t>
            </a:r>
            <a:r>
              <a:rPr lang="en-US" altLang="ko-KR" sz="1000" b="0" cap="none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000" b="0" cap="none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프로세스를 생성하고, ssu_client와는 스레드를 사용하여 메시지큐로 IPC를 한다. ‘/ttmp’를 감시하기 위해 </a:t>
            </a:r>
            <a:r>
              <a:rPr lang="en-US" altLang="ko-KR" sz="1000" b="0" cap="none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Inotify를</a:t>
            </a:r>
            <a:r>
              <a:rPr lang="en-US" altLang="ko-KR" sz="1000" b="0" cap="none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000" b="0" cap="none" dirty="0" err="1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사용</a:t>
            </a:r>
            <a:r>
              <a:rPr lang="ko-KR" altLang="en-US" sz="1000" b="0" cap="none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했다</a:t>
            </a:r>
            <a:r>
              <a:rPr lang="en-US" altLang="ko-KR" sz="1000" b="0" cap="none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. </a:t>
            </a:r>
            <a:endParaRPr lang="ko-KR" altLang="en-US" sz="1000" b="0" cap="none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 algn="just" defTabSz="508000" fontAlgn="auto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FontTx/>
              <a:buNone/>
            </a:pPr>
            <a:endParaRPr lang="ko-KR" altLang="en-US" sz="1000" b="0" cap="none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 algn="just" defTabSz="508000" fontAlgn="auto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FontTx/>
              <a:buNone/>
            </a:pPr>
            <a:r>
              <a:rPr lang="en-US" altLang="ko-KR" sz="1000" b="0" cap="none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2) ssu_client</a:t>
            </a:r>
            <a:endParaRPr lang="ko-KR" altLang="en-US" sz="1000" b="0" cap="none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 algn="just" defTabSz="508000" fontAlgn="auto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FontTx/>
              <a:buNone/>
            </a:pPr>
            <a:r>
              <a:rPr lang="ko-KR" altLang="en-US" sz="1000" b="0" cap="none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기능</a:t>
            </a:r>
            <a:r>
              <a:rPr lang="en-US" altLang="ko-KR" sz="1000" b="0" cap="none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000" b="0" cap="none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: 데몬프로세스가 기록한 syslog를 출력할수 있다. 특정 </a:t>
            </a:r>
            <a:r>
              <a:rPr lang="en-US" altLang="ko-KR" sz="1000" b="0" cap="none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확장자를</a:t>
            </a:r>
            <a:r>
              <a:rPr lang="en-US" altLang="ko-KR" sz="1000" b="0" cap="none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000" b="0" cap="none" dirty="0" err="1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등록</a:t>
            </a:r>
            <a:r>
              <a:rPr lang="ko-KR" altLang="en-US" sz="1000" b="0" cap="none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하면</a:t>
            </a:r>
            <a:r>
              <a:rPr lang="en-US" altLang="ko-KR" sz="1000" b="0" cap="none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000" b="0" cap="none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자신의 파일이 아니어도 이벤트를 감시할 수 </a:t>
            </a:r>
            <a:r>
              <a:rPr lang="en-US" altLang="ko-KR" sz="1000" b="0" cap="none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있</a:t>
            </a:r>
            <a:r>
              <a:rPr lang="ko-KR" altLang="en-US" sz="1000" b="0" cap="none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다</a:t>
            </a:r>
            <a:r>
              <a:rPr lang="en-US" altLang="ko-KR" sz="1000" b="0" cap="none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.</a:t>
            </a:r>
            <a:endParaRPr lang="ko-KR" altLang="en-US" sz="1000" b="0" cap="none" dirty="0" smtClean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 algn="just" defTabSz="508000" fontAlgn="auto">
              <a:lnSpc>
                <a:spcPct val="114999"/>
              </a:lnSpc>
              <a:spcBef>
                <a:spcPts val="0"/>
              </a:spcBef>
              <a:spcAft>
                <a:spcPts val="1000"/>
              </a:spcAft>
              <a:buFontTx/>
              <a:buNone/>
            </a:pPr>
            <a:r>
              <a:rPr lang="ko-KR" altLang="en-US" sz="100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구현</a:t>
            </a:r>
            <a:r>
              <a:rPr lang="en-US" altLang="ko-KR" sz="1000" b="0" cap="none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 : </a:t>
            </a:r>
            <a:r>
              <a:rPr lang="en-US" altLang="ko-KR" sz="1000" b="0" cap="none" dirty="0" err="1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현재</a:t>
            </a:r>
            <a:r>
              <a:rPr lang="en-US" altLang="ko-KR" sz="1000" b="0" cap="none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000" b="0" cap="none" dirty="0" err="1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유저ID를</a:t>
            </a:r>
            <a:r>
              <a:rPr lang="en-US" altLang="ko-KR" sz="1000" b="0" cap="none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ko-KR" altLang="en-US" sz="1000" dirty="0" err="1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가져오</a:t>
            </a:r>
            <a:r>
              <a:rPr lang="en-US" altLang="ko-KR" sz="1000" b="0" cap="none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고, </a:t>
            </a:r>
            <a:r>
              <a:rPr lang="en-US" altLang="ko-KR" sz="1000" b="0" cap="none" dirty="0" err="1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ssu_daemon과</a:t>
            </a:r>
            <a:r>
              <a:rPr lang="en-US" altLang="ko-KR" sz="1000" b="0" cap="none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000" b="0" cap="none" dirty="0" err="1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IPC를</a:t>
            </a:r>
            <a:r>
              <a:rPr lang="en-US" altLang="ko-KR" sz="1000" b="0" cap="none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000" b="0" cap="none" dirty="0" err="1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하여</a:t>
            </a:r>
            <a:r>
              <a:rPr lang="en-US" altLang="ko-KR" sz="1000" b="0" cap="none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000" b="0" cap="none" dirty="0" err="1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접근권한이</a:t>
            </a:r>
            <a:r>
              <a:rPr lang="en-US" altLang="ko-KR" sz="1000" b="0" cap="none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000" b="0" cap="none" dirty="0" err="1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없는</a:t>
            </a:r>
            <a:r>
              <a:rPr lang="en-US" altLang="ko-KR" sz="1000" b="0" cap="none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000" b="0" cap="none" dirty="0" err="1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syslog도</a:t>
            </a:r>
            <a:r>
              <a:rPr lang="en-US" altLang="ko-KR" sz="1000" b="0" cap="none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000" b="0" cap="none" dirty="0" err="1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가져올</a:t>
            </a:r>
            <a:r>
              <a:rPr lang="en-US" altLang="ko-KR" sz="1000" b="0" cap="none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 수 있</a:t>
            </a:r>
            <a:r>
              <a:rPr lang="ko-KR" altLang="en-US" sz="1000" dirty="0" err="1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게</a:t>
            </a:r>
            <a:r>
              <a:rPr lang="ko-KR" altLang="en-US" sz="10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했</a:t>
            </a:r>
            <a:r>
              <a:rPr lang="en-US" altLang="ko-KR" sz="1000" b="0" cap="none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다. </a:t>
            </a:r>
            <a:r>
              <a:rPr lang="en-US" altLang="ko-KR" sz="1000" b="0" cap="none" dirty="0" err="1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특정확장자를</a:t>
            </a:r>
            <a:r>
              <a:rPr lang="en-US" altLang="ko-KR" sz="1000" b="0" cap="none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000" b="0" cap="none" dirty="0" err="1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ssu_daemon에</a:t>
            </a:r>
            <a:r>
              <a:rPr lang="en-US" altLang="ko-KR" sz="1000" b="0" cap="none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000" b="0" cap="none" dirty="0" err="1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기록해야</a:t>
            </a:r>
            <a:r>
              <a:rPr lang="en-US" altLang="ko-KR" sz="1000" b="0" cap="none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000" b="0" cap="none" dirty="0" err="1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하므로</a:t>
            </a:r>
            <a:r>
              <a:rPr lang="en-US" altLang="ko-KR" sz="1000" b="0" cap="none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000" b="0" cap="none" dirty="0" err="1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메시지</a:t>
            </a:r>
            <a:r>
              <a:rPr lang="en-US" altLang="ko-KR" sz="1000" b="0" cap="none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000" b="0" cap="none" dirty="0" err="1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큐를</a:t>
            </a:r>
            <a:r>
              <a:rPr lang="en-US" altLang="ko-KR" sz="1000" b="0" cap="none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sz="1000" b="0" cap="none" dirty="0" err="1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이용</a:t>
            </a:r>
            <a:r>
              <a:rPr lang="ko-KR" altLang="en-US" sz="1000" b="0" cap="none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했다</a:t>
            </a:r>
            <a:r>
              <a:rPr lang="en-US" altLang="ko-KR" sz="1000" b="0" cap="none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.</a:t>
            </a:r>
            <a:endParaRPr lang="ko-KR" altLang="en-US" sz="1000" b="0" cap="none" dirty="0" smtClean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 algn="l" defTabSz="914400" eaLnBrk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sz="1000" b="0" cap="none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Char char="•"/>
            </a:pPr>
            <a:endParaRPr lang="ko-KR" altLang="en-US" sz="1000" b="0" cap="none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6542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35A6ADA2-66F6-0F4C-9F59-368ABC42589E}"/>
              </a:ext>
            </a:extLst>
          </p:cNvPr>
          <p:cNvSpPr/>
          <p:nvPr/>
        </p:nvSpPr>
        <p:spPr>
          <a:xfrm>
            <a:off x="346744" y="250849"/>
            <a:ext cx="11369040" cy="6294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9000000" sx="101000" sy="101000" algn="tl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smtClean="0"/>
              <a:t>d</a:t>
            </a:r>
            <a:endParaRPr kumimoji="1" lang="ko-KR" altLang="en-US" dirty="0"/>
          </a:p>
        </p:txBody>
      </p:sp>
      <p:cxnSp>
        <p:nvCxnSpPr>
          <p:cNvPr id="3" name="직선 연결선[R] 2">
            <a:extLst>
              <a:ext uri="{FF2B5EF4-FFF2-40B4-BE49-F238E27FC236}">
                <a16:creationId xmlns:a16="http://schemas.microsoft.com/office/drawing/2014/main" xmlns="" id="{8085FF43-4C1F-FA47-9A5D-72F735A38D0E}"/>
              </a:ext>
            </a:extLst>
          </p:cNvPr>
          <p:cNvCxnSpPr/>
          <p:nvPr/>
        </p:nvCxnSpPr>
        <p:spPr>
          <a:xfrm>
            <a:off x="346744" y="1005840"/>
            <a:ext cx="2752506" cy="0"/>
          </a:xfrm>
          <a:prstGeom prst="line">
            <a:avLst/>
          </a:prstGeom>
          <a:ln w="34925">
            <a:solidFill>
              <a:schemeClr val="accent5">
                <a:alpha val="6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BD0E6124-74E3-8F48-967E-DADFED2ABDE4}"/>
              </a:ext>
            </a:extLst>
          </p:cNvPr>
          <p:cNvSpPr txBox="1"/>
          <p:nvPr/>
        </p:nvSpPr>
        <p:spPr>
          <a:xfrm>
            <a:off x="2023335" y="630936"/>
            <a:ext cx="1189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smtClean="0"/>
              <a:t>Observer</a:t>
            </a:r>
            <a:endParaRPr kumimoji="1"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414838" y="998162"/>
            <a:ext cx="20600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latin typeface="+mj-lt"/>
              </a:rPr>
              <a:t>SSU_DAEMON </a:t>
            </a:r>
            <a:r>
              <a:rPr lang="ko-KR" altLang="en-US" sz="1600" b="1" dirty="0" smtClean="0">
                <a:latin typeface="+mj-lt"/>
              </a:rPr>
              <a:t>실행</a:t>
            </a:r>
            <a:endParaRPr lang="ko-KR" altLang="en-US" sz="1600" b="1" dirty="0">
              <a:latin typeface="+mj-lt"/>
            </a:endParaRPr>
          </a:p>
        </p:txBody>
      </p:sp>
      <p:sp>
        <p:nvSpPr>
          <p:cNvPr id="10" name="직사각형 9"/>
          <p:cNvSpPr>
            <a:spLocks/>
          </p:cNvSpPr>
          <p:nvPr/>
        </p:nvSpPr>
        <p:spPr>
          <a:xfrm>
            <a:off x="3414838" y="1298695"/>
            <a:ext cx="4321810" cy="246221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Char char="•"/>
            </a:pPr>
            <a:endParaRPr lang="ko-KR" altLang="en-US" sz="1000" b="0" cap="none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11" name="그림 10" descr="C:/Users/kosmo_21/AppData/Roaming/PolarisOffice/ETemp/6528_3547392/fImage244779668467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14838" y="1792051"/>
            <a:ext cx="6642735" cy="1381125"/>
          </a:xfrm>
          <a:prstGeom prst="rect">
            <a:avLst/>
          </a:prstGeom>
          <a:noFill/>
          <a:ln w="0">
            <a:noFill/>
            <a:prstDash/>
          </a:ln>
        </p:spPr>
      </p:pic>
      <p:pic>
        <p:nvPicPr>
          <p:cNvPr id="12" name="그림 11" descr="C:/Users/kosmo_21/AppData/Roaming/PolarisOffice/ETemp/6528_3547392/fImage226139696334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14838" y="3841265"/>
            <a:ext cx="6642735" cy="1234440"/>
          </a:xfrm>
          <a:prstGeom prst="rect">
            <a:avLst/>
          </a:prstGeom>
          <a:noFill/>
          <a:ln w="0">
            <a:noFill/>
            <a:prstDash/>
          </a:ln>
        </p:spPr>
      </p:pic>
    </p:spTree>
    <p:extLst>
      <p:ext uri="{BB962C8B-B14F-4D97-AF65-F5344CB8AC3E}">
        <p14:creationId xmlns:p14="http://schemas.microsoft.com/office/powerpoint/2010/main" val="4114345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35A6ADA2-66F6-0F4C-9F59-368ABC42589E}"/>
              </a:ext>
            </a:extLst>
          </p:cNvPr>
          <p:cNvSpPr/>
          <p:nvPr/>
        </p:nvSpPr>
        <p:spPr>
          <a:xfrm>
            <a:off x="346744" y="250849"/>
            <a:ext cx="11369040" cy="6294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9000000" sx="101000" sy="101000" algn="tl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smtClean="0"/>
              <a:t>d</a:t>
            </a:r>
            <a:endParaRPr kumimoji="1" lang="ko-KR" altLang="en-US" dirty="0"/>
          </a:p>
        </p:txBody>
      </p:sp>
      <p:cxnSp>
        <p:nvCxnSpPr>
          <p:cNvPr id="3" name="직선 연결선[R] 2">
            <a:extLst>
              <a:ext uri="{FF2B5EF4-FFF2-40B4-BE49-F238E27FC236}">
                <a16:creationId xmlns:a16="http://schemas.microsoft.com/office/drawing/2014/main" xmlns="" id="{8085FF43-4C1F-FA47-9A5D-72F735A38D0E}"/>
              </a:ext>
            </a:extLst>
          </p:cNvPr>
          <p:cNvCxnSpPr/>
          <p:nvPr/>
        </p:nvCxnSpPr>
        <p:spPr>
          <a:xfrm>
            <a:off x="346744" y="1005840"/>
            <a:ext cx="2752506" cy="0"/>
          </a:xfrm>
          <a:prstGeom prst="line">
            <a:avLst/>
          </a:prstGeom>
          <a:ln w="34925">
            <a:solidFill>
              <a:schemeClr val="accent5">
                <a:alpha val="6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BD0E6124-74E3-8F48-967E-DADFED2ABDE4}"/>
              </a:ext>
            </a:extLst>
          </p:cNvPr>
          <p:cNvSpPr txBox="1"/>
          <p:nvPr/>
        </p:nvSpPr>
        <p:spPr>
          <a:xfrm>
            <a:off x="2023335" y="630936"/>
            <a:ext cx="1189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smtClean="0"/>
              <a:t>Observer</a:t>
            </a:r>
            <a:endParaRPr kumimoji="1"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414838" y="998162"/>
            <a:ext cx="26340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latin typeface="+mj-lt"/>
              </a:rPr>
              <a:t>파일 추가</a:t>
            </a:r>
            <a:r>
              <a:rPr lang="en-US" altLang="ko-KR" sz="1600" b="1" dirty="0" smtClean="0">
                <a:latin typeface="+mj-lt"/>
              </a:rPr>
              <a:t>, </a:t>
            </a:r>
            <a:r>
              <a:rPr lang="ko-KR" altLang="en-US" sz="1600" b="1" dirty="0" smtClean="0">
                <a:latin typeface="+mj-lt"/>
              </a:rPr>
              <a:t>수정</a:t>
            </a:r>
            <a:r>
              <a:rPr lang="en-US" altLang="ko-KR" sz="1600" b="1" dirty="0" smtClean="0">
                <a:latin typeface="+mj-lt"/>
              </a:rPr>
              <a:t>, </a:t>
            </a:r>
            <a:r>
              <a:rPr lang="ko-KR" altLang="en-US" sz="1600" b="1" dirty="0" smtClean="0">
                <a:latin typeface="+mj-lt"/>
              </a:rPr>
              <a:t>삭제 감시</a:t>
            </a:r>
            <a:endParaRPr lang="ko-KR" altLang="en-US" sz="1600" b="1" dirty="0">
              <a:latin typeface="+mj-lt"/>
            </a:endParaRPr>
          </a:p>
        </p:txBody>
      </p:sp>
      <p:sp>
        <p:nvSpPr>
          <p:cNvPr id="10" name="직사각형 9"/>
          <p:cNvSpPr>
            <a:spLocks/>
          </p:cNvSpPr>
          <p:nvPr/>
        </p:nvSpPr>
        <p:spPr>
          <a:xfrm>
            <a:off x="3414838" y="1298695"/>
            <a:ext cx="4321810" cy="246221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Char char="•"/>
            </a:pPr>
            <a:endParaRPr lang="ko-KR" altLang="en-US" sz="1000" b="0" cap="none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15" name="그림 14" descr="C:/Users/kosmo_21/AppData/Roaming/PolarisOffice/ETemp/6528_3547392/fImage105219846500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14838" y="1461312"/>
            <a:ext cx="6642735" cy="613410"/>
          </a:xfrm>
          <a:prstGeom prst="rect">
            <a:avLst/>
          </a:prstGeom>
          <a:noFill/>
          <a:ln w="0">
            <a:noFill/>
            <a:prstDash/>
          </a:ln>
        </p:spPr>
      </p:pic>
      <p:pic>
        <p:nvPicPr>
          <p:cNvPr id="16" name="그림 15" descr="C:/Users/kosmo_21/AppData/Roaming/PolarisOffice/ETemp/6528_3547392/fImage340099879169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14838" y="2227122"/>
            <a:ext cx="6642735" cy="1570355"/>
          </a:xfrm>
          <a:prstGeom prst="rect">
            <a:avLst/>
          </a:prstGeom>
          <a:noFill/>
          <a:ln w="0">
            <a:noFill/>
            <a:prstDash/>
          </a:ln>
        </p:spPr>
      </p:pic>
      <p:pic>
        <p:nvPicPr>
          <p:cNvPr id="17" name="그림 16" descr="C:/Users/kosmo_21/AppData/Roaming/PolarisOffice/ETemp/6528_3547392/fImage357409905724.p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14838" y="3921302"/>
            <a:ext cx="6642735" cy="1708785"/>
          </a:xfrm>
          <a:prstGeom prst="rect">
            <a:avLst/>
          </a:prstGeom>
          <a:noFill/>
          <a:ln w="0">
            <a:noFill/>
            <a:prstDash/>
          </a:ln>
        </p:spPr>
      </p:pic>
    </p:spTree>
    <p:extLst>
      <p:ext uri="{BB962C8B-B14F-4D97-AF65-F5344CB8AC3E}">
        <p14:creationId xmlns:p14="http://schemas.microsoft.com/office/powerpoint/2010/main" val="3054682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35A6ADA2-66F6-0F4C-9F59-368ABC42589E}"/>
              </a:ext>
            </a:extLst>
          </p:cNvPr>
          <p:cNvSpPr/>
          <p:nvPr/>
        </p:nvSpPr>
        <p:spPr>
          <a:xfrm>
            <a:off x="346744" y="250849"/>
            <a:ext cx="11369040" cy="6294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9000000" sx="101000" sy="101000" algn="tl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smtClean="0"/>
              <a:t>d</a:t>
            </a:r>
            <a:endParaRPr kumimoji="1" lang="ko-KR" altLang="en-US" dirty="0"/>
          </a:p>
        </p:txBody>
      </p:sp>
      <p:cxnSp>
        <p:nvCxnSpPr>
          <p:cNvPr id="3" name="직선 연결선[R] 2">
            <a:extLst>
              <a:ext uri="{FF2B5EF4-FFF2-40B4-BE49-F238E27FC236}">
                <a16:creationId xmlns:a16="http://schemas.microsoft.com/office/drawing/2014/main" xmlns="" id="{8085FF43-4C1F-FA47-9A5D-72F735A38D0E}"/>
              </a:ext>
            </a:extLst>
          </p:cNvPr>
          <p:cNvCxnSpPr/>
          <p:nvPr/>
        </p:nvCxnSpPr>
        <p:spPr>
          <a:xfrm>
            <a:off x="346744" y="1005840"/>
            <a:ext cx="2752506" cy="0"/>
          </a:xfrm>
          <a:prstGeom prst="line">
            <a:avLst/>
          </a:prstGeom>
          <a:ln w="34925">
            <a:solidFill>
              <a:schemeClr val="accent5">
                <a:alpha val="6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BD0E6124-74E3-8F48-967E-DADFED2ABDE4}"/>
              </a:ext>
            </a:extLst>
          </p:cNvPr>
          <p:cNvSpPr txBox="1"/>
          <p:nvPr/>
        </p:nvSpPr>
        <p:spPr>
          <a:xfrm>
            <a:off x="2023335" y="630936"/>
            <a:ext cx="1189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smtClean="0"/>
              <a:t>Observer</a:t>
            </a:r>
            <a:endParaRPr kumimoji="1"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414838" y="998162"/>
            <a:ext cx="40222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latin typeface="+mj-lt"/>
              </a:rPr>
              <a:t>SSU_CLIENT </a:t>
            </a:r>
            <a:r>
              <a:rPr lang="ko-KR" altLang="en-US" sz="1600" b="1" dirty="0" smtClean="0">
                <a:latin typeface="+mj-lt"/>
              </a:rPr>
              <a:t>로그 읽기</a:t>
            </a:r>
            <a:r>
              <a:rPr lang="en-US" altLang="ko-KR" sz="1600" b="1" dirty="0" smtClean="0">
                <a:latin typeface="+mj-lt"/>
              </a:rPr>
              <a:t>, </a:t>
            </a:r>
            <a:r>
              <a:rPr lang="ko-KR" altLang="en-US" sz="1600" b="1" dirty="0" smtClean="0">
                <a:latin typeface="+mj-lt"/>
              </a:rPr>
              <a:t>감시 </a:t>
            </a:r>
            <a:r>
              <a:rPr lang="ko-KR" altLang="en-US" sz="1600" b="1" dirty="0" err="1" smtClean="0">
                <a:latin typeface="+mj-lt"/>
              </a:rPr>
              <a:t>확장자</a:t>
            </a:r>
            <a:r>
              <a:rPr lang="ko-KR" altLang="en-US" sz="1600" b="1" dirty="0" smtClean="0">
                <a:latin typeface="+mj-lt"/>
              </a:rPr>
              <a:t> 등록</a:t>
            </a:r>
            <a:endParaRPr lang="ko-KR" altLang="en-US" sz="1600" b="1" dirty="0">
              <a:latin typeface="+mj-lt"/>
            </a:endParaRPr>
          </a:p>
        </p:txBody>
      </p:sp>
      <p:sp>
        <p:nvSpPr>
          <p:cNvPr id="10" name="직사각형 9"/>
          <p:cNvSpPr>
            <a:spLocks/>
          </p:cNvSpPr>
          <p:nvPr/>
        </p:nvSpPr>
        <p:spPr>
          <a:xfrm>
            <a:off x="3414838" y="1298695"/>
            <a:ext cx="4321810" cy="246221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Char char="•"/>
            </a:pPr>
            <a:endParaRPr lang="ko-KR" altLang="en-US" sz="1000" b="0" cap="none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11" name="그림 10" descr="C:/Users/kosmo_21/AppData/Roaming/PolarisOffice/ETemp/6528_3547392/fImage2925810061478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14838" y="1421805"/>
            <a:ext cx="6642735" cy="1156335"/>
          </a:xfrm>
          <a:prstGeom prst="rect">
            <a:avLst/>
          </a:prstGeom>
          <a:noFill/>
          <a:ln w="0">
            <a:noFill/>
            <a:prstDash/>
          </a:ln>
        </p:spPr>
      </p:pic>
      <p:pic>
        <p:nvPicPr>
          <p:cNvPr id="12" name="그림 11" descr="C:/Users/kosmo_21/AppData/Roaming/PolarisOffice/ETemp/6528_3547392/fImage6454010099358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14838" y="2688630"/>
            <a:ext cx="6642735" cy="3054350"/>
          </a:xfrm>
          <a:prstGeom prst="rect">
            <a:avLst/>
          </a:prstGeom>
          <a:noFill/>
          <a:ln w="0">
            <a:noFill/>
            <a:prstDash/>
          </a:ln>
        </p:spPr>
      </p:pic>
    </p:spTree>
    <p:extLst>
      <p:ext uri="{BB962C8B-B14F-4D97-AF65-F5344CB8AC3E}">
        <p14:creationId xmlns:p14="http://schemas.microsoft.com/office/powerpoint/2010/main" val="2087196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xmlns="" id="{35A6ADA2-66F6-0F4C-9F59-368ABC42589E}"/>
              </a:ext>
            </a:extLst>
          </p:cNvPr>
          <p:cNvSpPr/>
          <p:nvPr/>
        </p:nvSpPr>
        <p:spPr>
          <a:xfrm>
            <a:off x="346744" y="250849"/>
            <a:ext cx="11369040" cy="6294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9000000" sx="101000" sy="101000" algn="tl" rotWithShape="0">
              <a:prstClr val="black">
                <a:alpha val="1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smtClean="0"/>
              <a:t>d</a:t>
            </a:r>
            <a:endParaRPr kumimoji="1" lang="ko-KR" altLang="en-US" dirty="0"/>
          </a:p>
        </p:txBody>
      </p:sp>
      <p:sp>
        <p:nvSpPr>
          <p:cNvPr id="10" name="직사각형 9"/>
          <p:cNvSpPr>
            <a:spLocks/>
          </p:cNvSpPr>
          <p:nvPr/>
        </p:nvSpPr>
        <p:spPr>
          <a:xfrm>
            <a:off x="3414838" y="1298695"/>
            <a:ext cx="4321810" cy="246221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indent="0" algn="l" defTabSz="914400" eaLnBrk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Char char="•"/>
            </a:pPr>
            <a:endParaRPr lang="ko-KR" altLang="en-US" sz="1000" b="0" cap="none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1027" name="Picture 3" descr="C:\Users\guy\Downloads\dev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44" y="1142999"/>
            <a:ext cx="7620000" cy="5715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780782" y="975529"/>
            <a:ext cx="2728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 smtClean="0"/>
              <a:t>감사합니다</a:t>
            </a:r>
            <a:r>
              <a:rPr lang="en-US" altLang="ko-KR" sz="3600" b="1" dirty="0" smtClean="0"/>
              <a:t>.</a:t>
            </a:r>
            <a:endParaRPr lang="ko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860126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683</Words>
  <Application>Microsoft Office PowerPoint</Application>
  <PresentationFormat>사용자 지정</PresentationFormat>
  <Paragraphs>164</Paragraphs>
  <Slides>18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19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키즈 팩토리</dc:creator>
  <cp:lastModifiedBy>guy</cp:lastModifiedBy>
  <cp:revision>49</cp:revision>
  <dcterms:created xsi:type="dcterms:W3CDTF">2019-08-07T01:50:27Z</dcterms:created>
  <dcterms:modified xsi:type="dcterms:W3CDTF">2019-08-11T11:15:50Z</dcterms:modified>
</cp:coreProperties>
</file>